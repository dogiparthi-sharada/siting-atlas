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  "Siting Atlas. One sentence: we rebuild a private billion-dollar</a:t>
            </a:r>
          </a:p>
          <a:p>
            <a:r>
              <a:t>       decision from public data, and then check whether we got it right."</a:t>
            </a:r>
          </a:p>
          <a:p>
            <a:r>
              <a:t>LAND   The name is operator-neutral on purpose - it survives past delivery,</a:t>
            </a:r>
          </a:p>
          <a:p>
            <a:r>
              <a:t>       and it keeps other people's trademarks out of our product name.</a:t>
            </a:r>
          </a:p>
          <a:p>
            <a:r>
              <a:t>TIMING 30 seconds. Do not linger.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  "Here is the whole project before any jargon."</a:t>
            </a:r>
          </a:p>
          <a:p>
            <a:r>
              <a:t>LAND   The last line is the project: we get SCORED. Anyone can build a model;</a:t>
            </a:r>
          </a:p>
          <a:p>
            <a:r>
              <a:t>       almost nobody submits it to reality.</a:t>
            </a:r>
          </a:p>
          <a:p>
            <a:r>
              <a:t>IF ASKED  "Why does it matter that it's public?" - because a council that</a:t>
            </a:r>
          </a:p>
          <a:p>
            <a:r>
              <a:t>       wants to contest a decision cannot contest a model it cannot see.</a:t>
            </a:r>
          </a:p>
          <a:p>
            <a:r>
              <a:t>TIMING 1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  "Three things to know about the decision itself."</a:t>
            </a:r>
          </a:p>
          <a:p>
            <a:r>
              <a:t>LAND   Same-day is a BUILDING problem, decided ZIP by ZIP, at $3-5M each.</a:t>
            </a:r>
          </a:p>
          <a:p>
            <a:r>
              <a:t>       That is why the unit of analysis is the ZIP.</a:t>
            </a:r>
          </a:p>
          <a:p>
            <a:r>
              <a:t>IF ASKED  "Why not model at city level?" - because service is switched on per</a:t>
            </a:r>
          </a:p>
          <a:p>
            <a:r>
              <a:t>       ZIP. Two neighbouring ZIPs in one city can differ.</a:t>
            </a:r>
          </a:p>
          <a:p>
            <a:r>
              <a:t>TIMING 1.5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  "Before the method - who actually uses this."</a:t>
            </a:r>
          </a:p>
          <a:p>
            <a:r>
              <a:t>LAND   The tax-abatement counterfactual. A council is asked for $2M and cannot</a:t>
            </a:r>
          </a:p>
          <a:p>
            <a:r>
              <a:t>       answer 'would they have built here anyway?'. Our propensity score IS</a:t>
            </a:r>
          </a:p>
          <a:p>
            <a:r>
              <a:t>       that answer.</a:t>
            </a:r>
          </a:p>
          <a:p>
            <a:r>
              <a:t>IF ASKED  "Isn't this just helping competitors?" - competitive use is real but</a:t>
            </a:r>
          </a:p>
          <a:p>
            <a:r>
              <a:t>       it is the least interesting user. The ones who cannot buy an</a:t>
            </a:r>
          </a:p>
          <a:p>
            <a:r>
              <a:t>       alternative are councils, air districts and community groups.</a:t>
            </a:r>
          </a:p>
          <a:p>
            <a:r>
              <a:t>TIMING 2 minutes. This slide earns the rest of the talk - do not rush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  "What exactly are we predicting? This is the most important design</a:t>
            </a:r>
          </a:p>
          <a:p>
            <a:r>
              <a:t>       choice we made."</a:t>
            </a:r>
          </a:p>
          <a:p>
            <a:r>
              <a:t>LAND   Observable outcome = we can be scored.</a:t>
            </a:r>
          </a:p>
          <a:p>
            <a:r>
              <a:t>IF ASKED  "Why not order volume?" - that is the next slide. Say so and move.</a:t>
            </a:r>
          </a:p>
          <a:p>
            <a:r>
              <a:t>TIMING 1.5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  "We nearly got this wrong, and the way we nearly got it wrong is</a:t>
            </a:r>
          </a:p>
          <a:p>
            <a:r>
              <a:t>       worth two minutes."</a:t>
            </a:r>
          </a:p>
          <a:p>
            <a:r>
              <a:t>LAND   The talent-score analogy. Deliver it slowly - pause after 'and has</a:t>
            </a:r>
          </a:p>
          <a:p>
            <a:r>
              <a:t>       learned nothing about talent.'</a:t>
            </a:r>
          </a:p>
          <a:p>
            <a:r>
              <a:t>       Then: the better the score looked, the more it proved the bug.</a:t>
            </a:r>
          </a:p>
          <a:p>
            <a:r>
              <a:t>IF ASKED  "How did you catch it?" - by asking what the metric would look like</a:t>
            </a:r>
          </a:p>
          <a:p>
            <a:r>
              <a:t>       if the model were useless. It looked identical. That is the tell.</a:t>
            </a:r>
          </a:p>
          <a:p>
            <a:r>
              <a:t>TIMING 2.5 minutes. This is the strongest story in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  "Idea one of three. Why more orders is not more money."</a:t>
            </a:r>
          </a:p>
          <a:p>
            <a:r>
              <a:t>LAND   8 to 9 orders is ONE new order and EIGHT switched to a costlier</a:t>
            </a:r>
          </a:p>
          <a:p>
            <a:r>
              <a:t>       method. And it leaks into neighbours, which breaks the standard</a:t>
            </a:r>
          </a:p>
          <a:p>
            <a:r>
              <a:t>       methods.</a:t>
            </a:r>
          </a:p>
          <a:p>
            <a:r>
              <a:t>IF ASKED  "How big is the leak?" - next slide, we measured it.</a:t>
            </a:r>
          </a:p>
          <a:p>
            <a:r>
              <a:t>TIMING 1.5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  "So the plan is to measure it rather than assume it."</a:t>
            </a:r>
          </a:p>
          <a:p>
            <a:r>
              <a:t>LAND   Say plainly, before anyone asks: the curve on this slide is</a:t>
            </a:r>
          </a:p>
          <a:p>
            <a:r>
              <a:t>       illustrative. This estimand has not been touched. Do not read the</a:t>
            </a:r>
          </a:p>
          <a:p>
            <a:r>
              <a:t>       numbers off it - they are four literal arrays in the figure source.</a:t>
            </a:r>
          </a:p>
          <a:p>
            <a:r>
              <a:t>       What is real is the design: rings around each launched ZIP, an effect</a:t>
            </a:r>
          </a:p>
          <a:p>
            <a:r>
              <a:t>       estimated separately in each ring, and W derived from the result</a:t>
            </a:r>
          </a:p>
          <a:p>
            <a:r>
              <a:t>       instead of assumed.</a:t>
            </a:r>
          </a:p>
          <a:p>
            <a:r>
              <a:t>IF ASKED  "Is the method new?" - no. It is Pollmann's estimator and we credit</a:t>
            </a:r>
          </a:p>
          <a:p>
            <a:r>
              <a:t>       it. The parameter would be what is new, if we estimate it.</a:t>
            </a:r>
          </a:p>
          <a:p>
            <a:r>
              <a:t>IF ASKED  "Why show an unestimated curve?" - because it is the second</a:t>
            </a:r>
          </a:p>
          <a:p>
            <a:r>
              <a:t>       estimand in the proposal and it may be more tractable than siting</a:t>
            </a:r>
          </a:p>
          <a:p>
            <a:r>
              <a:t>       with the data we have. It is on the roadmap, not in the results.</a:t>
            </a:r>
          </a:p>
          <a:p>
            <a:r>
              <a:t>TIMING 2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  "Idea two. This is the part that surprised us."</a:t>
            </a:r>
          </a:p>
          <a:p>
            <a:r>
              <a:t>LAND   Walk the Plano example one line at a time. Land hard on:</a:t>
            </a:r>
          </a:p>
          <a:p>
            <a:r>
              <a:t>       'The data is fine. The conclusion is broken.'</a:t>
            </a:r>
          </a:p>
          <a:p>
            <a:r>
              <a:t>       Pause there. Then give gates 5 and 6.</a:t>
            </a:r>
          </a:p>
          <a:p>
            <a:r>
              <a:t>IF ASKED  "Isn't that just a bug?" - no, it is a category of bug nobody</a:t>
            </a:r>
          </a:p>
          <a:p>
            <a:r>
              <a:t>       checks for, because every existing gate protects the data.</a:t>
            </a:r>
          </a:p>
          <a:p>
            <a:r>
              <a:t>TIMING 3 minutes. The most important slide in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  "Drawn out, so you can see where the boundary is."</a:t>
            </a:r>
          </a:p>
          <a:p>
            <a:r>
              <a:t>LAND   Four checks protect DATA. Two protect the CONCLUSION. Point at the</a:t>
            </a:r>
          </a:p>
          <a:p>
            <a:r>
              <a:t>       orange boxes.</a:t>
            </a:r>
          </a:p>
          <a:p>
            <a:r>
              <a:t>TIMING 1 minute - the previous slide did the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  "Idea three. A shopping basket, not a ranked list."</a:t>
            </a:r>
          </a:p>
          <a:p>
            <a:r>
              <a:t>LAND   Two ZIPs each lose money alone and make $1.1M together, because they</a:t>
            </a:r>
          </a:p>
          <a:p>
            <a:r>
              <a:t>       share a station. A ranking never evaluates the pair.</a:t>
            </a:r>
          </a:p>
          <a:p>
            <a:r>
              <a:t>IF ASKED  "Is that novel?" - no, and say so first. Supply-chain software has</a:t>
            </a:r>
          </a:p>
          <a:p>
            <a:r>
              <a:t>       done multi-site optimisation for twenty years. We include it because</a:t>
            </a:r>
          </a:p>
          <a:p>
            <a:r>
              <a:t>       a ranking is the wrong model of the decision.</a:t>
            </a:r>
          </a:p>
          <a:p>
            <a:r>
              <a:t>TIMING 2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  "How we say how confident we are - accuracy means four things."</a:t>
            </a:r>
          </a:p>
          <a:p>
            <a:r>
              <a:t>LAND   The fourth one. Rank stability is what an executive actually needs and</a:t>
            </a:r>
          </a:p>
          <a:p>
            <a:r>
              <a:t>       almost nobody reports it. Say plainly that we have not run it yet.</a:t>
            </a:r>
          </a:p>
          <a:p>
            <a:r>
              <a:t>IF ASKED  "What is conformal prediction?" - we give a range and then CHECK</a:t>
            </a:r>
          </a:p>
          <a:p>
            <a:r>
              <a:t>       the range works on held-out data. A measured guarantee, not an assumed</a:t>
            </a:r>
          </a:p>
          <a:p>
            <a:r>
              <a:t>       one.</a:t>
            </a:r>
          </a:p>
          <a:p>
            <a:r>
              <a:t>TIMING 2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  "And this is the test that makes it a forecast rather than a fit.</a:t>
            </a:r>
          </a:p>
          <a:p>
            <a:r>
              <a:t>       We ran it. We failed it."</a:t>
            </a:r>
          </a:p>
          <a:p>
            <a:r>
              <a:t>LAND   Say the three numbers out loud: AUC 0.6894 against 0.5000 for a</a:t>
            </a:r>
          </a:p>
          <a:p>
            <a:r>
              <a:t>       constant; Brier 0.019522 against 0.019614; calibration error</a:t>
            </a:r>
          </a:p>
          <a:p>
            <a:r>
              <a:t>       0.00863 against 0.00005. A model that ignores every covariate is better</a:t>
            </a:r>
          </a:p>
          <a:p>
            <a:r>
              <a:t>       calibrated than ours. Then say why that is worth showing: most</a:t>
            </a:r>
          </a:p>
          <a:p>
            <a:r>
              <a:t>       projects never find out.</a:t>
            </a:r>
          </a:p>
          <a:p>
            <a:r>
              <a:t>IF ASKED  "So the project failed?" - no, the SPECIFICATION failed, and it</a:t>
            </a:r>
          </a:p>
          <a:p>
            <a:r>
              <a:t>       failed for a statable reason. One station switches on a median of 58</a:t>
            </a:r>
          </a:p>
          <a:p>
            <a:r>
              <a:t>       ZIP codes at once, so the events are not independent. We are</a:t>
            </a:r>
          </a:p>
          <a:p>
            <a:r>
              <a:t>       respecifying as a conditional choice over ZIP codes given a station</a:t>
            </a:r>
          </a:p>
          <a:p>
            <a:r>
              <a:t>       opens.</a:t>
            </a:r>
          </a:p>
          <a:p>
            <a:r>
              <a:t>IF ASKED  "Why not quote the skill score?" - Gneiting and Raftery 2007,</a:t>
            </a:r>
          </a:p>
          <a:p>
            <a:r>
              <a:t>       section 2.3: skill scores are generally improper even when the</a:t>
            </a:r>
          </a:p>
          <a:p>
            <a:r>
              <a:t>       underlying score is proper. We quote the raw pair.</a:t>
            </a:r>
          </a:p>
          <a:p>
            <a:r>
              <a:t>TIMING 2 minutes. This is the slide to slow down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  "Now the uncomfortable part. Here is everything that already exists."</a:t>
            </a:r>
          </a:p>
          <a:p>
            <a:r>
              <a:t>LAND   Read the right-hand column, not the left. The gap is not capability -</a:t>
            </a:r>
          </a:p>
          <a:p>
            <a:r>
              <a:t>       it is CHECKABILITY.</a:t>
            </a:r>
          </a:p>
          <a:p>
            <a:r>
              <a:t>IF ASKED  "So you built a worse version of Esri?" - a worse version on</a:t>
            </a:r>
          </a:p>
          <a:p>
            <a:r>
              <a:t>       geometry, a different thing on causality, and the only one a council</a:t>
            </a:r>
          </a:p>
          <a:p>
            <a:r>
              <a:t>       can open.</a:t>
            </a:r>
          </a:p>
          <a:p>
            <a:r>
              <a:t>TIMING 2 minutes. Volunteering this buys credibility for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  "So what is actually new. Four claims."</a:t>
            </a:r>
          </a:p>
          <a:p>
            <a:r>
              <a:t>LAND   Point at the wording rule at the bottom. We never say 'first'.</a:t>
            </a:r>
          </a:p>
          <a:p>
            <a:r>
              <a:t>IF ASKED  "Isn't claim 3 just a descriptive statistic?" - yes, and nobody has</a:t>
            </a:r>
          </a:p>
          <a:p>
            <a:r>
              <a:t>       computed it. 70 percent is a finding about transparency, 40 percent</a:t>
            </a:r>
          </a:p>
          <a:p>
            <a:r>
              <a:t>       about opacity.</a:t>
            </a:r>
          </a:p>
          <a:p>
            <a:r>
              <a:t>TIMING 2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  "And three we deliberately do not make."</a:t>
            </a:r>
          </a:p>
          <a:p>
            <a:r>
              <a:t>LAND   We checked our own claims and three did not survive. Saying so is the</a:t>
            </a:r>
          </a:p>
          <a:p>
            <a:r>
              <a:t>       reason to believe the four we kept.</a:t>
            </a:r>
          </a:p>
          <a:p>
            <a:r>
              <a:t>IF ASKED  "How did you find these?" - a literature check and a commercial</a:t>
            </a:r>
          </a:p>
          <a:p>
            <a:r>
              <a:t>       prior-art check, both documented.</a:t>
            </a:r>
          </a:p>
          <a:p>
            <a:r>
              <a:t>TIMING 1.5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  "The three questions I would ask if I were you."</a:t>
            </a:r>
          </a:p>
          <a:p>
            <a:r>
              <a:t>LAND   Every row has a mitigation AND a residual. Then the red banner: four</a:t>
            </a:r>
          </a:p>
          <a:p>
            <a:r>
              <a:t>       things have no workaround and we say so.</a:t>
            </a:r>
          </a:p>
          <a:p>
            <a:r>
              <a:t>IF ASKED  "Which is the weakest part?" - the cannibalisation coefficient.</a:t>
            </a:r>
          </a:p>
          <a:p>
            <a:r>
              <a:t>       No public number to check it against. Have that answer ready.</a:t>
            </a:r>
          </a:p>
          <a:p>
            <a:r>
              <a:t>TIMING 2.5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  "The data-is-old objection, in full."</a:t>
            </a:r>
          </a:p>
          <a:p>
            <a:r>
              <a:t>LAND   The operator faced the SAME lag. There is no private census. And a</a:t>
            </a:r>
          </a:p>
          <a:p>
            <a:r>
              <a:t>       2025 opening was decided in 2023 on 2021-22 data, so our vintage</a:t>
            </a:r>
          </a:p>
          <a:p>
            <a:r>
              <a:t>       matches the decision.</a:t>
            </a:r>
          </a:p>
          <a:p>
            <a:r>
              <a:t>TIMING 1.5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  "Can three people actually build this? We sized it first."</a:t>
            </a:r>
          </a:p>
          <a:p>
            <a:r>
              <a:t>LAND   The routing story. We nearly put a 30 GB dependency on the critical</a:t>
            </a:r>
          </a:p>
          <a:p>
            <a:r>
              <a:t>       path, then realised we needed a table, not a service.</a:t>
            </a:r>
          </a:p>
          <a:p>
            <a:r>
              <a:t>IF ASKED  "What if you need routing later?" - regenerate that metro. It is</a:t>
            </a:r>
          </a:p>
          <a:p>
            <a:r>
              <a:t>       an offline job.</a:t>
            </a:r>
          </a:p>
          <a:p>
            <a:r>
              <a:t>TIMING 2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  "And the scale question, since a million rows sounds small."</a:t>
            </a:r>
          </a:p>
          <a:p>
            <a:r>
              <a:t>LAND   Row count is the ONLY axis where this is small. Say the deliberate</a:t>
            </a:r>
          </a:p>
          <a:p>
            <a:r>
              <a:t>       line: I would rather spend compute on 24 billion uncertainty draws</a:t>
            </a:r>
          </a:p>
          <a:p>
            <a:r>
              <a:t>       than on scanning rows I do not need.</a:t>
            </a:r>
          </a:p>
          <a:p>
            <a:r>
              <a:t>WARNING  Never claim this is big data. It collapses in thirty seconds.</a:t>
            </a:r>
          </a:p>
          <a:p>
            <a:r>
              <a:t>TIMING 1.5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  "Eleven sources, all free and public."</a:t>
            </a:r>
          </a:p>
          <a:p>
            <a:r>
              <a:t>LAND   No paid API, no licensed panel, no login. That constraint IS the</a:t>
            </a:r>
          </a:p>
          <a:p>
            <a:r>
              <a:t>       contribution, not a budget limit.</a:t>
            </a:r>
          </a:p>
          <a:p>
            <a:r>
              <a:t>IF ASKED  "Wouldn't paid data be better?" - yes, and it would destroy the</a:t>
            </a:r>
          </a:p>
          <a:p>
            <a:r>
              <a:t>       point. A model on licensed data produces conclusions nobody can check.</a:t>
            </a:r>
          </a:p>
          <a:p>
            <a:r>
              <a:t>TIMING 1.5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  "How the pieces fit together."</a:t>
            </a:r>
          </a:p>
          <a:p>
            <a:r>
              <a:t>LAND   Nothing above the feature layer knows where the bytes came from. That</a:t>
            </a:r>
          </a:p>
          <a:p>
            <a:r>
              <a:t>       is why Volume II - data centres - is a data swap, not a rewrite.</a:t>
            </a:r>
          </a:p>
          <a:p>
            <a:r>
              <a:t>TIMING 1.5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  "Nine weeks. Week zero is decisions."</a:t>
            </a:r>
          </a:p>
          <a:p>
            <a:r>
              <a:t>LAND   Six decisions that are cheap now and expensive later. That is what we</a:t>
            </a:r>
          </a:p>
          <a:p>
            <a:r>
              <a:t>       want signed off today.</a:t>
            </a:r>
          </a:p>
          <a:p>
            <a:r>
              <a:t>TIMING 1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  "Who does what - split by pipeline stage, not just module."</a:t>
            </a:r>
          </a:p>
          <a:p>
            <a:r>
              <a:t>LAND   Read the italic question under each name. Assigning modules without</a:t>
            </a:r>
          </a:p>
          <a:p>
            <a:r>
              <a:t>       stages is how a shared pipeline becomes nobody's job.</a:t>
            </a:r>
          </a:p>
          <a:p>
            <a:r>
              <a:t>TIMING 1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  "Budget. Eighty dollars, inside the hundred-dollar cap."</a:t>
            </a:r>
          </a:p>
          <a:p>
            <a:r>
              <a:t>LAND   Compute is zero. The only cost is model inference, and it hard-stops</a:t>
            </a:r>
          </a:p>
          <a:p>
            <a:r>
              <a:t>       in config.</a:t>
            </a:r>
          </a:p>
          <a:p>
            <a:r>
              <a:t>IF ASKED  "Why drop the fine-tuned model?" - eleven days and ninety dollars</a:t>
            </a:r>
          </a:p>
          <a:p>
            <a:r>
              <a:t>       for something that answers none of the three questions that matter.</a:t>
            </a:r>
          </a:p>
          <a:p>
            <a:r>
              <a:t>TIMING 1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  "What we would like from you today."</a:t>
            </a:r>
          </a:p>
          <a:p>
            <a:r>
              <a:t>LAND   The six decisions, then the closing line - read it slowly:</a:t>
            </a:r>
          </a:p>
          <a:p>
            <a:r>
              <a:t>       'Proprietary data produces conclusions nobody can check. For a</a:t>
            </a:r>
          </a:p>
          <a:p>
            <a:r>
              <a:t>       decision communities have standing to contest, checkability is the</a:t>
            </a:r>
          </a:p>
          <a:p>
            <a:r>
              <a:t>       product.'</a:t>
            </a:r>
          </a:p>
          <a:p>
            <a:r>
              <a:t>THEN   Stop talking. Let the first question come.</a:t>
            </a:r>
          </a:p>
          <a:p>
            <a:r>
              <a:t>TIMING 1.5 minutes, then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417320"/>
            <a:ext cx="10972800" cy="10058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2A78D6"/>
                </a:solidFill>
                <a:latin typeface="Calibri"/>
              </a:rPr>
              <a:t>SITING ATLAS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377440"/>
            <a:ext cx="109728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EB6834"/>
                </a:solidFill>
                <a:latin typeface="Calibri"/>
              </a:rPr>
              <a:t>Volume I  |  Last-Mile 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063240"/>
            <a:ext cx="10424160" cy="9144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68" b="0" i="0">
                <a:solidFill>
                  <a:srgbClr val="0B0B0B"/>
                </a:solidFill>
                <a:latin typeface="Calibri"/>
              </a:rPr>
              <a:t>An open model of where private infrastructure gets built</a:t>
            </a:r>
          </a:p>
          <a:p>
            <a:pPr algn="l">
              <a:lnSpc>
                <a:spcPct val="125000"/>
              </a:lnSpc>
            </a:pPr>
            <a:r>
              <a:rPr sz="2068" b="0" i="0">
                <a:solidFill>
                  <a:srgbClr val="0B0B0B"/>
                </a:solidFill>
                <a:latin typeface="Calibri"/>
              </a:rPr>
              <a:t>— and who bears the consequences.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4224528"/>
            <a:ext cx="2926080" cy="32004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4526280"/>
            <a:ext cx="5486400" cy="10972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2514E"/>
                </a:solidFill>
                <a:latin typeface="Calibri"/>
              </a:rPr>
              <a:t>Sharada Dogiparthi   ·   Srilekha Budithi   ·   Rakshitha Venigalla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2514E"/>
                </a:solidFill>
                <a:latin typeface="Calibri"/>
              </a:rPr>
              <a:t>MS Business Analytics, CSU East Bay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2514E"/>
                </a:solidFill>
                <a:latin typeface="Calibri"/>
              </a:rPr>
              <a:t>Course instructor: Surendra Sarnikar, Ph.D.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053328"/>
            <a:ext cx="1106424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898781"/>
                </a:solidFill>
                <a:latin typeface="Calibri"/>
              </a:rPr>
              <a:t>Not affiliated with, endorsed by or sponsored by any operator analysed. Operator names are used descriptively.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371600"/>
            <a:ext cx="11064240" cy="23774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42" b="0" i="0">
                <a:solidFill>
                  <a:srgbClr val="0B0B0B"/>
                </a:solidFill>
                <a:latin typeface="Calibri"/>
              </a:rPr>
              <a:t>Big retailers decide which ZIP codes get same-day delivery.</a:t>
            </a:r>
          </a:p>
          <a:p>
            <a:pPr algn="l">
              <a:lnSpc>
                <a:spcPct val="130000"/>
              </a:lnSpc>
            </a:pPr>
            <a:r>
              <a:rPr sz="2242" b="0" i="0">
                <a:solidFill>
                  <a:srgbClr val="0B0B0B"/>
                </a:solidFill>
                <a:latin typeface="Calibri"/>
              </a:rPr>
              <a:t>Each one costs them $3–5 million.</a:t>
            </a:r>
          </a:p>
          <a:p>
            <a:pPr algn="l">
              <a:lnSpc>
                <a:spcPct val="130000"/>
              </a:lnSpc>
            </a:pPr>
            <a:r>
              <a:rPr sz="2242" b="0" i="0">
                <a:solidFill>
                  <a:srgbClr val="0B0B0B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2242" b="0" i="0">
                <a:solidFill>
                  <a:srgbClr val="0B0B0B"/>
                </a:solidFill>
                <a:latin typeface="Calibri"/>
              </a:rPr>
              <a:t>Those decisions happen inside private models nobody outside</a:t>
            </a:r>
          </a:p>
          <a:p>
            <a:pPr algn="l">
              <a:lnSpc>
                <a:spcPct val="130000"/>
              </a:lnSpc>
            </a:pPr>
            <a:r>
              <a:rPr sz="2242" b="0" i="0">
                <a:solidFill>
                  <a:srgbClr val="0B0B0B"/>
                </a:solidFill>
                <a:latin typeface="Calibri"/>
              </a:rPr>
              <a:t>the company can see — but the consequences are public.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4114800"/>
            <a:ext cx="11057839" cy="786384"/>
          </a:xfrm>
          <a:prstGeom prst="roundRect">
            <a:avLst>
              <a:gd name="adj" fmla="val 14000"/>
            </a:avLst>
          </a:prstGeom>
          <a:solidFill>
            <a:srgbClr val="EAF7EA"/>
          </a:solidFill>
          <a:ln w="19050">
            <a:solidFill>
              <a:srgbClr val="0CA3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49808" y="4224528"/>
            <a:ext cx="10692079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CA30C"/>
                </a:solidFill>
                <a:latin typeface="Calibri"/>
              </a:rPr>
              <a:t>We build an open version of that decision, from free public data — and then check whether it actually predicts what they did.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257800"/>
            <a:ext cx="1106424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1">
                <a:solidFill>
                  <a:srgbClr val="898781"/>
                </a:solidFill>
                <a:latin typeface="Calibri"/>
              </a:rPr>
              <a:t>That last part is the whole project. Anyone can build a model. Very few get scored against reality.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Calibri"/>
              </a:rPr>
              <a:t>Siting Atlas  |  Volume I: Last-Mile Delivery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82296" cy="42062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1088136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0B0B"/>
                </a:solidFill>
                <a:latin typeface="Calibri"/>
              </a:rPr>
              <a:t>The decision, in plain terms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32688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52514E"/>
                </a:solidFill>
                <a:latin typeface="Calibri"/>
              </a:rPr>
              <a:t>Turning on same-day delivery in one ZIP code is a capital project, not a software setting.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72768"/>
            <a:ext cx="3529584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49808" y="1691640"/>
            <a:ext cx="3163824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A78D6"/>
                </a:solidFill>
                <a:latin typeface="Calibri"/>
              </a:rPr>
              <a:t>IT NEEDS A BUILDING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075688"/>
            <a:ext cx="3163824" cy="16642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52514E"/>
                </a:solidFill>
                <a:latin typeface="Calibri"/>
              </a:rPr>
              <a:t>Same-day is not '2-day but faster'. It needs different buildings, closer to customers — a delivery station within about 30 minutes of the door.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5968" y="1572768"/>
            <a:ext cx="3529584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498848" y="1691640"/>
            <a:ext cx="3163824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A78D6"/>
                </a:solidFill>
                <a:latin typeface="Calibri"/>
              </a:rPr>
              <a:t>IT IS DECIDED ZIP BY ZIP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8848" y="2075688"/>
            <a:ext cx="3163824" cy="16642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52514E"/>
                </a:solidFill>
                <a:latin typeface="Calibri"/>
              </a:rPr>
              <a:t>Service is switched on per ZIP code. Two neighbouring ZIPs in the same city can differ. So the ZIP is the unit of decision.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5008" y="1572768"/>
            <a:ext cx="3529584" cy="2286000"/>
          </a:xfrm>
          <a:prstGeom prst="roundRect">
            <a:avLst>
              <a:gd name="adj" fmla="val 6000"/>
            </a:avLst>
          </a:prstGeom>
          <a:solidFill>
            <a:srgbClr val="FDF0EA"/>
          </a:solidFill>
          <a:ln w="17780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47888" y="1691640"/>
            <a:ext cx="3163824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69" b="1" i="0">
                <a:solidFill>
                  <a:srgbClr val="EB6834"/>
                </a:solidFill>
                <a:latin typeface="Calibri"/>
              </a:rPr>
              <a:t>IT IS EXPENSIVE TO GET WRONG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7888" y="2075688"/>
            <a:ext cx="3163824" cy="16642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52514E"/>
                </a:solidFill>
                <a:latin typeface="Calibri"/>
              </a:rPr>
              <a:t>$3-5M per ZIP. Across the 2,413 ZIPs we model, that is $7.2B-$12.1B billion of capital being allocated.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160520"/>
            <a:ext cx="11057839" cy="786384"/>
          </a:xfrm>
          <a:prstGeom prst="roundRect">
            <a:avLst>
              <a:gd name="adj" fmla="val 14000"/>
            </a:avLst>
          </a:prstGeom>
          <a:solidFill>
            <a:srgbClr val="EAF2FC"/>
          </a:solidFill>
          <a:ln w="1905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49808" y="4270248"/>
            <a:ext cx="10692079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2A78D6"/>
                </a:solidFill>
                <a:latin typeface="Calibri"/>
              </a:rPr>
              <a:t>And the three things that decide whether a ZIP is profitable all interact.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5138928"/>
            <a:ext cx="10972800" cy="10058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0" i="0">
                <a:solidFill>
                  <a:srgbClr val="52514E"/>
                </a:solidFill>
                <a:latin typeface="Calibri"/>
              </a:rPr>
              <a:t>1.  How many orders are genuinely NEW      2.  How DENSE the deliveries are      3.  How many orders were STOLEN from 2-day shipping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Calibri"/>
              </a:rPr>
              <a:t>Siting Atlas  |  Volume I: Last-Mile Delivery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82296" cy="42062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1088136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0B0B"/>
                </a:solidFill>
                <a:latin typeface="Calibri"/>
              </a:rPr>
              <a:t>Who actually uses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32688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52514E"/>
                </a:solidFill>
                <a:latin typeface="Calibri"/>
              </a:rPr>
              <a:t>Four groups, each with a decision the model changes — and none of them can buy this today.</a:t>
            </a:r>
          </a:p>
        </p:txBody>
      </p:sp>
      <p:pic>
        <p:nvPicPr>
          <p:cNvPr id="5" name="Picture 4" descr="fig11_stakehol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5856" y="1536192"/>
            <a:ext cx="9119982" cy="49194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82296" cy="42062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1088136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0B0B"/>
                </a:solidFill>
                <a:latin typeface="Calibri"/>
              </a:rPr>
              <a:t>What exactly are we predicting?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32688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52514E"/>
                </a:solidFill>
                <a:latin typeface="Calibri"/>
              </a:rPr>
              <a:t>The single most important design choice in the project.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5486400" cy="2011680"/>
          </a:xfrm>
          <a:prstGeom prst="roundRect">
            <a:avLst>
              <a:gd name="adj" fmla="val 6000"/>
            </a:avLst>
          </a:prstGeom>
          <a:solidFill>
            <a:srgbClr val="EAF7EA"/>
          </a:solidFill>
          <a:ln w="17780">
            <a:solidFill>
              <a:srgbClr val="0CA3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49808" y="1600200"/>
            <a:ext cx="512064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CA30C"/>
                </a:solidFill>
                <a:latin typeface="Calibri"/>
              </a:rPr>
              <a:t>THE QUESTION WE 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984248"/>
            <a:ext cx="5120640" cy="138988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90" b="0" i="0">
                <a:solidFill>
                  <a:srgbClr val="52514E"/>
                </a:solidFill>
                <a:latin typeface="Calibri"/>
              </a:rPr>
              <a:t>For each ZIP code:</a:t>
            </a:r>
          </a:p>
          <a:p>
            <a:pPr algn="l">
              <a:lnSpc>
                <a:spcPct val="118000"/>
              </a:lnSpc>
            </a:pPr>
            <a:r>
              <a:rPr sz="990" b="0" i="0">
                <a:solidFill>
                  <a:srgbClr val="52514E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990" b="0" i="0">
                <a:solidFill>
                  <a:srgbClr val="52514E"/>
                </a:solidFill>
                <a:latin typeface="Calibri"/>
              </a:rPr>
              <a:t>     Will the operator turn on same-day</a:t>
            </a:r>
          </a:p>
          <a:p>
            <a:pPr algn="l">
              <a:lnSpc>
                <a:spcPct val="118000"/>
              </a:lnSpc>
            </a:pPr>
            <a:r>
              <a:rPr sz="990" b="0" i="0">
                <a:solidFill>
                  <a:srgbClr val="52514E"/>
                </a:solidFill>
                <a:latin typeface="Calibri"/>
              </a:rPr>
              <a:t>     delivery here — and when?</a:t>
            </a:r>
          </a:p>
          <a:p>
            <a:pPr algn="l">
              <a:lnSpc>
                <a:spcPct val="118000"/>
              </a:lnSpc>
            </a:pPr>
            <a:r>
              <a:rPr sz="990" b="0" i="0">
                <a:solidFill>
                  <a:srgbClr val="52514E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990" b="0" i="0">
                <a:solidFill>
                  <a:srgbClr val="52514E"/>
                </a:solidFill>
                <a:latin typeface="Calibri"/>
              </a:rPr>
              <a:t>Both are visible from outside. You can type a ZIP into their own delivery checker.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7648" y="1481328"/>
            <a:ext cx="548640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10528" y="1600200"/>
            <a:ext cx="512064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A78D6"/>
                </a:solidFill>
                <a:latin typeface="Calibri"/>
              </a:rPr>
              <a:t>WHY THAT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0528" y="1984248"/>
            <a:ext cx="5120640" cy="138988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92" b="0" i="0">
                <a:solidFill>
                  <a:srgbClr val="52514E"/>
                </a:solidFill>
                <a:latin typeface="Calibri"/>
              </a:rPr>
              <a:t>Because it means we can be SCORED.</a:t>
            </a:r>
          </a:p>
          <a:p>
            <a:pPr algn="l">
              <a:lnSpc>
                <a:spcPct val="118000"/>
              </a:lnSpc>
            </a:pPr>
            <a:r>
              <a:rPr sz="1192" b="0" i="0">
                <a:solidFill>
                  <a:srgbClr val="52514E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192" b="0" i="0">
                <a:solidFill>
                  <a:srgbClr val="52514E"/>
                </a:solidFill>
                <a:latin typeface="Calibri"/>
              </a:rPr>
              <a:t>We make a prediction. Reality tells us whether we were right.</a:t>
            </a:r>
          </a:p>
          <a:p>
            <a:pPr algn="l">
              <a:lnSpc>
                <a:spcPct val="118000"/>
              </a:lnSpc>
            </a:pPr>
            <a:r>
              <a:rPr sz="1192" b="0" i="0">
                <a:solidFill>
                  <a:srgbClr val="52514E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192" b="0" i="0">
                <a:solidFill>
                  <a:srgbClr val="52514E"/>
                </a:solidFill>
                <a:latin typeface="Calibri"/>
              </a:rPr>
              <a:t>Most student projects cannot do this. It is the difference between a model and a forecast.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794760"/>
            <a:ext cx="11057839" cy="786384"/>
          </a:xfrm>
          <a:prstGeom prst="roundRect">
            <a:avLst>
              <a:gd name="adj" fmla="val 14000"/>
            </a:avLst>
          </a:prstGeom>
          <a:solidFill>
            <a:srgbClr val="EAF2FC"/>
          </a:solidFill>
          <a:ln w="1905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49808" y="3904488"/>
            <a:ext cx="10692079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2A78D6"/>
                </a:solidFill>
                <a:latin typeface="Calibri"/>
              </a:rPr>
              <a:t>Example:  in 2023 the model says ZIP 85008 has a 72% chance of same-day within 18 months. Then we check 2024–25.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846320"/>
            <a:ext cx="11064240" cy="10972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52514E"/>
                </a:solidFill>
                <a:latin typeface="Calibri"/>
              </a:rPr>
              <a:t>The tempting alternative was to predict order VOLUME per ZIP. Nobody outside the company can see that number — so it would have to be invented. The next slide shows why inventing it is a trap.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Calibri"/>
              </a:rPr>
              <a:t>Siting Atlas  |  Volume I: Last-Mile Delivery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82296" cy="42062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1088136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0B0B"/>
                </a:solidFill>
                <a:latin typeface="Calibri"/>
              </a:rPr>
              <a:t>The trap we avoided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32688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52514E"/>
                </a:solidFill>
                <a:latin typeface="Calibri"/>
              </a:rPr>
              <a:t>Worth understanding properly — it is the best story in the project.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5486400" cy="2514600"/>
          </a:xfrm>
          <a:prstGeom prst="roundRect">
            <a:avLst>
              <a:gd name="adj" fmla="val 6000"/>
            </a:avLst>
          </a:prstGeom>
          <a:solidFill>
            <a:srgbClr val="FBEAEA"/>
          </a:solidFill>
          <a:ln w="17780">
            <a:solidFill>
              <a:srgbClr val="D0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49808" y="1600200"/>
            <a:ext cx="512064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D03B3B"/>
                </a:solidFill>
                <a:latin typeface="Calibri"/>
              </a:rPr>
              <a:t>IF WE HAD PREDICTED ORDER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984248"/>
            <a:ext cx="5120640" cy="18928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4" b="0" i="0">
                <a:solidFill>
                  <a:srgbClr val="52514E"/>
                </a:solidFill>
                <a:latin typeface="Calibri"/>
              </a:rPr>
              <a:t>Step 1.  Nobody publishes volume per ZIP,</a:t>
            </a:r>
          </a:p>
          <a:p>
            <a:pPr algn="l">
              <a:lnSpc>
                <a:spcPct val="118000"/>
              </a:lnSpc>
            </a:pPr>
            <a:r>
              <a:rPr sz="954" b="0" i="0">
                <a:solidFill>
                  <a:srgbClr val="52514E"/>
                </a:solidFill>
                <a:latin typeface="Calibri"/>
              </a:rPr>
              <a:t>            so we would have to invent it —</a:t>
            </a:r>
          </a:p>
          <a:p>
            <a:pPr algn="l">
              <a:lnSpc>
                <a:spcPct val="118000"/>
              </a:lnSpc>
            </a:pPr>
            <a:r>
              <a:rPr sz="954" b="0" i="0">
                <a:solidFill>
                  <a:srgbClr val="52514E"/>
                </a:solidFill>
                <a:latin typeface="Calibri"/>
              </a:rPr>
              <a:t>            split total orders by income and</a:t>
            </a:r>
          </a:p>
          <a:p>
            <a:pPr algn="l">
              <a:lnSpc>
                <a:spcPct val="118000"/>
              </a:lnSpc>
            </a:pPr>
            <a:r>
              <a:rPr sz="954" b="0" i="0">
                <a:solidFill>
                  <a:srgbClr val="52514E"/>
                </a:solidFill>
                <a:latin typeface="Calibri"/>
              </a:rPr>
              <a:t>            shop density.</a:t>
            </a:r>
          </a:p>
          <a:p>
            <a:pPr algn="l">
              <a:lnSpc>
                <a:spcPct val="118000"/>
              </a:lnSpc>
            </a:pPr>
            <a:r>
              <a:rPr sz="954" b="0" i="0">
                <a:solidFill>
                  <a:srgbClr val="52514E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954" b="0" i="0">
                <a:solidFill>
                  <a:srgbClr val="52514E"/>
                </a:solidFill>
                <a:latin typeface="Calibri"/>
              </a:rPr>
              <a:t>Step 2.  Then build a model that uses income</a:t>
            </a:r>
          </a:p>
          <a:p>
            <a:pPr algn="l">
              <a:lnSpc>
                <a:spcPct val="118000"/>
              </a:lnSpc>
            </a:pPr>
            <a:r>
              <a:rPr sz="954" b="0" i="0">
                <a:solidFill>
                  <a:srgbClr val="52514E"/>
                </a:solidFill>
                <a:latin typeface="Calibri"/>
              </a:rPr>
              <a:t>            and shop density to predict it.</a:t>
            </a:r>
          </a:p>
          <a:p>
            <a:pPr algn="l">
              <a:lnSpc>
                <a:spcPct val="118000"/>
              </a:lnSpc>
            </a:pPr>
            <a:r>
              <a:rPr sz="954" b="0" i="0">
                <a:solidFill>
                  <a:srgbClr val="52514E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954" b="0" i="0">
                <a:solidFill>
                  <a:srgbClr val="52514E"/>
                </a:solidFill>
                <a:latin typeface="Calibri"/>
              </a:rPr>
              <a:t>The answer is made of the same ingredients</a:t>
            </a:r>
          </a:p>
          <a:p>
            <a:pPr algn="l">
              <a:lnSpc>
                <a:spcPct val="118000"/>
              </a:lnSpc>
            </a:pPr>
            <a:r>
              <a:rPr sz="954" b="0" i="0">
                <a:solidFill>
                  <a:srgbClr val="52514E"/>
                </a:solidFill>
                <a:latin typeface="Calibri"/>
              </a:rPr>
              <a:t>as the question.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7648" y="1481328"/>
            <a:ext cx="5486400" cy="2514600"/>
          </a:xfrm>
          <a:prstGeom prst="roundRect">
            <a:avLst>
              <a:gd name="adj" fmla="val 6000"/>
            </a:avLst>
          </a:prstGeom>
          <a:solidFill>
            <a:srgbClr val="FBEAEA"/>
          </a:solidFill>
          <a:ln w="17780">
            <a:solidFill>
              <a:srgbClr val="D0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10528" y="1600200"/>
            <a:ext cx="512064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D03B3B"/>
                </a:solidFill>
                <a:latin typeface="Calibri"/>
              </a:rPr>
              <a:t>THE SAME MISTAKE, IN EVERYDAY TERMS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0528" y="1984248"/>
            <a:ext cx="5120640" cy="18928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79" b="0" i="0">
                <a:solidFill>
                  <a:srgbClr val="52514E"/>
                </a:solidFill>
                <a:latin typeface="Calibri"/>
              </a:rPr>
              <a:t>I define a student's 'talent score' as</a:t>
            </a:r>
          </a:p>
          <a:p>
            <a:pPr algn="l">
              <a:lnSpc>
                <a:spcPct val="118000"/>
              </a:lnSpc>
            </a:pPr>
            <a:r>
              <a:rPr sz="1079" b="0" i="0">
                <a:solidFill>
                  <a:srgbClr val="52514E"/>
                </a:solidFill>
                <a:latin typeface="Calibri"/>
              </a:rPr>
              <a:t>     0.6 x height  +  0.4 x shoe size</a:t>
            </a:r>
          </a:p>
          <a:p>
            <a:pPr algn="l">
              <a:lnSpc>
                <a:spcPct val="118000"/>
              </a:lnSpc>
            </a:pPr>
            <a:r>
              <a:rPr sz="1079" b="0" i="0">
                <a:solidFill>
                  <a:srgbClr val="52514E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079" b="0" i="0">
                <a:solidFill>
                  <a:srgbClr val="52514E"/>
                </a:solidFill>
                <a:latin typeface="Calibri"/>
              </a:rPr>
              <a:t>Then I build a model predicting talent score</a:t>
            </a:r>
          </a:p>
          <a:p>
            <a:pPr algn="l">
              <a:lnSpc>
                <a:spcPct val="118000"/>
              </a:lnSpc>
            </a:pPr>
            <a:r>
              <a:rPr sz="1079" b="0" i="0">
                <a:solidFill>
                  <a:srgbClr val="52514E"/>
                </a:solidFill>
                <a:latin typeface="Calibri"/>
              </a:rPr>
              <a:t>from height and shoe size.</a:t>
            </a:r>
          </a:p>
          <a:p>
            <a:pPr algn="l">
              <a:lnSpc>
                <a:spcPct val="118000"/>
              </a:lnSpc>
            </a:pPr>
            <a:r>
              <a:rPr sz="1079" b="0" i="0">
                <a:solidFill>
                  <a:srgbClr val="52514E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079" b="0" i="0">
                <a:solidFill>
                  <a:srgbClr val="52514E"/>
                </a:solidFill>
                <a:latin typeface="Calibri"/>
              </a:rPr>
              <a:t>It scores 97% accurate — and has learned</a:t>
            </a:r>
          </a:p>
          <a:p>
            <a:pPr algn="l">
              <a:lnSpc>
                <a:spcPct val="118000"/>
              </a:lnSpc>
            </a:pPr>
            <a:r>
              <a:rPr sz="1079" b="0" i="0">
                <a:solidFill>
                  <a:srgbClr val="52514E"/>
                </a:solidFill>
                <a:latin typeface="Calibri"/>
              </a:rPr>
              <a:t>nothing about talent. It rediscovered my own</a:t>
            </a:r>
          </a:p>
          <a:p>
            <a:pPr algn="l">
              <a:lnSpc>
                <a:spcPct val="118000"/>
              </a:lnSpc>
            </a:pPr>
            <a:r>
              <a:rPr sz="1079" b="0" i="0">
                <a:solidFill>
                  <a:srgbClr val="52514E"/>
                </a:solidFill>
                <a:latin typeface="Calibri"/>
              </a:rPr>
              <a:t>formula.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279392"/>
            <a:ext cx="11057839" cy="786384"/>
          </a:xfrm>
          <a:prstGeom prst="roundRect">
            <a:avLst>
              <a:gd name="adj" fmla="val 14000"/>
            </a:avLst>
          </a:prstGeom>
          <a:solidFill>
            <a:srgbClr val="FBEAEA"/>
          </a:solidFill>
          <a:ln w="19050">
            <a:solidFill>
              <a:srgbClr val="D0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49808" y="4389120"/>
            <a:ext cx="10692079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D03B3B"/>
                </a:solidFill>
                <a:latin typeface="Calibri"/>
              </a:rPr>
              <a:t>And the dangerous part: the BETTER the score looked, the more completely it proved the bug.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5321808"/>
            <a:ext cx="11064240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CA30C"/>
                </a:solidFill>
                <a:latin typeface="Calibri"/>
              </a:rPr>
              <a:t>Switching to "did they turn it on here?" fixes it, because that number comes from the world, not from us.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Calibri"/>
              </a:rPr>
              <a:t>Siting Atlas  |  Volume I: Last-Mile Delivery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82296" cy="42062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1088136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0B0B"/>
                </a:solidFill>
                <a:latin typeface="Calibri"/>
              </a:rPr>
              <a:t>Idea 1 — cannibalization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32688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52514E"/>
                </a:solidFill>
                <a:latin typeface="Calibri"/>
              </a:rPr>
              <a:t>Why more orders does not mean more money.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54864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49808" y="1600200"/>
            <a:ext cx="512064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A78D6"/>
                </a:solidFill>
                <a:latin typeface="Calibri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984248"/>
            <a:ext cx="5120640" cy="16642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4" b="0" i="0">
                <a:solidFill>
                  <a:srgbClr val="52514E"/>
                </a:solidFill>
                <a:latin typeface="Calibri"/>
              </a:rPr>
              <a:t>Before same-day, a household orders 8 items</a:t>
            </a:r>
          </a:p>
          <a:p>
            <a:pPr algn="l">
              <a:lnSpc>
                <a:spcPct val="118000"/>
              </a:lnSpc>
            </a:pPr>
            <a:r>
              <a:rPr sz="954" b="0" i="0">
                <a:solidFill>
                  <a:srgbClr val="52514E"/>
                </a:solidFill>
                <a:latin typeface="Calibri"/>
              </a:rPr>
              <a:t>a month on 2-day shipping.</a:t>
            </a:r>
          </a:p>
          <a:p>
            <a:pPr algn="l">
              <a:lnSpc>
                <a:spcPct val="118000"/>
              </a:lnSpc>
            </a:pPr>
            <a:r>
              <a:rPr sz="954" b="0" i="0">
                <a:solidFill>
                  <a:srgbClr val="52514E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954" b="0" i="0">
                <a:solidFill>
                  <a:srgbClr val="52514E"/>
                </a:solidFill>
                <a:latin typeface="Calibri"/>
              </a:rPr>
              <a:t>After same-day launches, they order 9 —</a:t>
            </a:r>
          </a:p>
          <a:p>
            <a:pPr algn="l">
              <a:lnSpc>
                <a:spcPct val="118000"/>
              </a:lnSpc>
            </a:pPr>
            <a:r>
              <a:rPr sz="954" b="0" i="0">
                <a:solidFill>
                  <a:srgbClr val="52514E"/>
                </a:solidFill>
                <a:latin typeface="Calibri"/>
              </a:rPr>
              <a:t>all same-day.</a:t>
            </a:r>
          </a:p>
          <a:p>
            <a:pPr algn="l">
              <a:lnSpc>
                <a:spcPct val="118000"/>
              </a:lnSpc>
            </a:pPr>
            <a:r>
              <a:rPr sz="954" b="0" i="0">
                <a:solidFill>
                  <a:srgbClr val="52514E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954" b="0" i="0">
                <a:solidFill>
                  <a:srgbClr val="52514E"/>
                </a:solidFill>
                <a:latin typeface="Calibri"/>
              </a:rPr>
              <a:t>Naive read: 'same-day generated 9 orders!'</a:t>
            </a:r>
          </a:p>
          <a:p>
            <a:pPr algn="l">
              <a:lnSpc>
                <a:spcPct val="118000"/>
              </a:lnSpc>
            </a:pPr>
            <a:r>
              <a:rPr sz="954" b="0" i="0">
                <a:solidFill>
                  <a:srgbClr val="52514E"/>
                </a:solidFill>
                <a:latin typeface="Calibri"/>
              </a:rPr>
              <a:t>Reality: 1 new order, and 8 that were</a:t>
            </a:r>
          </a:p>
          <a:p>
            <a:pPr algn="l">
              <a:lnSpc>
                <a:spcPct val="118000"/>
              </a:lnSpc>
            </a:pPr>
            <a:r>
              <a:rPr sz="954" b="0" i="0">
                <a:solidFill>
                  <a:srgbClr val="52514E"/>
                </a:solidFill>
                <a:latin typeface="Calibri"/>
              </a:rPr>
              <a:t>switched to a more expensive method.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7648" y="1481328"/>
            <a:ext cx="5486400" cy="2286000"/>
          </a:xfrm>
          <a:prstGeom prst="roundRect">
            <a:avLst>
              <a:gd name="adj" fmla="val 6000"/>
            </a:avLst>
          </a:prstGeom>
          <a:solidFill>
            <a:srgbClr val="FDF0EA"/>
          </a:solidFill>
          <a:ln w="17780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10528" y="1600200"/>
            <a:ext cx="512064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B6834"/>
                </a:solidFill>
                <a:latin typeface="Calibri"/>
              </a:rPr>
              <a:t>AND IT LEAKS NEXT DOOR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0528" y="1984248"/>
            <a:ext cx="5120640" cy="16642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4" b="0" i="0">
                <a:solidFill>
                  <a:srgbClr val="52514E"/>
                </a:solidFill>
                <a:latin typeface="Calibri"/>
              </a:rPr>
              <a:t>Same-day launches in Berkeley — not in</a:t>
            </a:r>
          </a:p>
          <a:p>
            <a:pPr algn="l">
              <a:lnSpc>
                <a:spcPct val="118000"/>
              </a:lnSpc>
            </a:pPr>
            <a:r>
              <a:rPr sz="954" b="0" i="0">
                <a:solidFill>
                  <a:srgbClr val="52514E"/>
                </a:solidFill>
                <a:latin typeface="Calibri"/>
              </a:rPr>
              <a:t>neighbouring Emeryville.</a:t>
            </a:r>
          </a:p>
          <a:p>
            <a:pPr algn="l">
              <a:lnSpc>
                <a:spcPct val="118000"/>
              </a:lnSpc>
            </a:pPr>
            <a:r>
              <a:rPr sz="954" b="0" i="0">
                <a:solidFill>
                  <a:srgbClr val="52514E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954" b="0" i="0">
                <a:solidFill>
                  <a:srgbClr val="52514E"/>
                </a:solidFill>
                <a:latin typeface="Calibri"/>
              </a:rPr>
              <a:t>But an Emeryville resident works in Berkeley,</a:t>
            </a:r>
          </a:p>
          <a:p>
            <a:pPr algn="l">
              <a:lnSpc>
                <a:spcPct val="118000"/>
              </a:lnSpc>
            </a:pPr>
            <a:r>
              <a:rPr sz="954" b="0" i="0">
                <a:solidFill>
                  <a:srgbClr val="52514E"/>
                </a:solidFill>
                <a:latin typeface="Calibri"/>
              </a:rPr>
              <a:t>now has a same-day address at the office, and</a:t>
            </a:r>
          </a:p>
          <a:p>
            <a:pPr algn="l">
              <a:lnSpc>
                <a:spcPct val="118000"/>
              </a:lnSpc>
            </a:pPr>
            <a:r>
              <a:rPr sz="954" b="0" i="0">
                <a:solidFill>
                  <a:srgbClr val="52514E"/>
                </a:solidFill>
                <a:latin typeface="Calibri"/>
              </a:rPr>
              <a:t>shifts their ordering.</a:t>
            </a:r>
          </a:p>
          <a:p>
            <a:pPr algn="l">
              <a:lnSpc>
                <a:spcPct val="118000"/>
              </a:lnSpc>
            </a:pPr>
            <a:r>
              <a:rPr sz="954" b="0" i="0">
                <a:solidFill>
                  <a:srgbClr val="52514E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954" b="0" i="0">
                <a:solidFill>
                  <a:srgbClr val="52514E"/>
                </a:solidFill>
                <a:latin typeface="Calibri"/>
              </a:rPr>
              <a:t>Emeryville's numbers move even though</a:t>
            </a:r>
          </a:p>
          <a:p>
            <a:pPr algn="l">
              <a:lnSpc>
                <a:spcPct val="118000"/>
              </a:lnSpc>
            </a:pPr>
            <a:r>
              <a:rPr sz="954" b="0" i="0">
                <a:solidFill>
                  <a:srgbClr val="52514E"/>
                </a:solidFill>
                <a:latin typeface="Calibri"/>
              </a:rPr>
              <a:t>Emeryville was never switched 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041648"/>
            <a:ext cx="11057839" cy="786384"/>
          </a:xfrm>
          <a:prstGeom prst="roundRect">
            <a:avLst>
              <a:gd name="adj" fmla="val 14000"/>
            </a:avLst>
          </a:prstGeom>
          <a:solidFill>
            <a:srgbClr val="FDF0EA"/>
          </a:solidFill>
          <a:ln w="19050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49808" y="4151376"/>
            <a:ext cx="10692079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EB6834"/>
                </a:solidFill>
                <a:latin typeface="Calibri"/>
              </a:rPr>
              <a:t>That leak is why the usual statistical methods break here — your 'untreated' comparison group was partly treated.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5074920"/>
            <a:ext cx="11064240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0B0B0B"/>
                </a:solidFill>
                <a:latin typeface="Calibri"/>
              </a:rPr>
              <a:t>So instead of assuming how far the leak reaches, we measure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Calibri"/>
              </a:rPr>
              <a:t>Siting Atlas  |  Volume I: Last-Mile Delivery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82296" cy="42062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1088136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42" b="1" i="0">
                <a:solidFill>
                  <a:srgbClr val="0B0B0B"/>
                </a:solidFill>
                <a:latin typeface="Calibri"/>
              </a:rPr>
              <a:t>Idea 1 — how far the leak reaches, and how we would measure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32688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90" b="0" i="1">
                <a:solidFill>
                  <a:srgbClr val="52514E"/>
                </a:solidFill>
                <a:latin typeface="Calibri"/>
              </a:rPr>
              <a:t>We draw rings around each launched ZIP and estimate the effect in each ring separately. The curve shown is illustrative: this estimand has not been touched.</a:t>
            </a:r>
          </a:p>
        </p:txBody>
      </p:sp>
      <p:pic>
        <p:nvPicPr>
          <p:cNvPr id="5" name="Picture 4" descr="fig05_dec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36192"/>
            <a:ext cx="10908792" cy="42275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144768"/>
            <a:ext cx="11064240" cy="60350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0" i="1">
                <a:solidFill>
                  <a:srgbClr val="898781"/>
                </a:solidFill>
                <a:latin typeface="Calibri"/>
              </a:rPr>
              <a:t>Do NOT read a number off this slide. The decay curve is four literal arrays in the figure source; nothing has been estimated. What is real here is the design — Pollmann's distance-band estimator, credited, with the spatial weight matrix derived from the estimate rather than assumed. If asked why it is in the deck at all: because it is the second estimand in the proposal and it is the one that may be more tractable than siting with the data we have.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82296" cy="42062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1088136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0B0B"/>
                </a:solidFill>
                <a:latin typeface="Calibri"/>
              </a:rPr>
              <a:t>Idea 2 — the AI agent, and the thing that surprised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32688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52514E"/>
                </a:solidFill>
                <a:latin typeface="Calibri"/>
              </a:rPr>
              <a:t>The agent reads competitor news and updates our data. Letting it write is where it gets interesting.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52120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49808" y="1600200"/>
            <a:ext cx="484632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A78D6"/>
                </a:solidFill>
                <a:latin typeface="Calibri"/>
              </a:rPr>
              <a:t>THE FOUR OBVIOUS SAFETY CHECKS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984248"/>
            <a:ext cx="4846320" cy="152704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52514E"/>
                </a:solidFill>
                <a:latin typeface="Calibri"/>
              </a:rPr>
              <a:t>1.  Is the data shaped correctly?</a:t>
            </a:r>
          </a:p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52514E"/>
                </a:solidFill>
                <a:latin typeface="Calibri"/>
              </a:rPr>
              <a:t>2.  Do the coordinates exist on Earth?</a:t>
            </a:r>
          </a:p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52514E"/>
                </a:solidFill>
                <a:latin typeface="Calibri"/>
              </a:rPr>
              <a:t>3.  Is the AI confident enough?</a:t>
            </a:r>
          </a:p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52514E"/>
                </a:solidFill>
                <a:latin typeface="Calibri"/>
              </a:rPr>
              <a:t>4.  Is it logged so we can undo it?</a:t>
            </a:r>
          </a:p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52514E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52514E"/>
                </a:solidFill>
                <a:latin typeface="Calibri"/>
              </a:rPr>
              <a:t>Everybody building these systems has these.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8" y="1481328"/>
            <a:ext cx="5715000" cy="2148840"/>
          </a:xfrm>
          <a:prstGeom prst="roundRect">
            <a:avLst>
              <a:gd name="adj" fmla="val 6000"/>
            </a:avLst>
          </a:prstGeom>
          <a:solidFill>
            <a:srgbClr val="FDF0EA"/>
          </a:solidFill>
          <a:ln w="17780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281928" y="1600200"/>
            <a:ext cx="534924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B6834"/>
                </a:solidFill>
                <a:latin typeface="Calibri"/>
              </a:rPr>
              <a:t>A REAL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1928" y="1984248"/>
            <a:ext cx="5349240" cy="152704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79" b="0" i="0">
                <a:solidFill>
                  <a:srgbClr val="52514E"/>
                </a:solidFill>
                <a:latin typeface="Calibri"/>
              </a:rPr>
              <a:t>The agent reads: "Walmart opens a sortation</a:t>
            </a:r>
          </a:p>
          <a:p>
            <a:pPr algn="l">
              <a:lnSpc>
                <a:spcPct val="118000"/>
              </a:lnSpc>
            </a:pPr>
            <a:r>
              <a:rPr sz="1079" b="0" i="0">
                <a:solidFill>
                  <a:srgbClr val="52514E"/>
                </a:solidFill>
                <a:latin typeface="Calibri"/>
              </a:rPr>
              <a:t>centre in Plano, Texas."  It writes the record.</a:t>
            </a:r>
          </a:p>
          <a:p>
            <a:pPr algn="l">
              <a:lnSpc>
                <a:spcPct val="118000"/>
              </a:lnSpc>
            </a:pPr>
            <a:r>
              <a:rPr sz="1079" b="0" i="0">
                <a:solidFill>
                  <a:srgbClr val="52514E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079" b="0" i="0">
                <a:solidFill>
                  <a:srgbClr val="52514E"/>
                </a:solidFill>
                <a:latin typeface="Calibri"/>
              </a:rPr>
              <a:t>Schema OK.  Plano is real.  Confidence 0.94.</a:t>
            </a:r>
          </a:p>
          <a:p>
            <a:pPr algn="l">
              <a:lnSpc>
                <a:spcPct val="118000"/>
              </a:lnSpc>
            </a:pPr>
            <a:r>
              <a:rPr sz="1079" b="0" i="0">
                <a:solidFill>
                  <a:srgbClr val="52514E"/>
                </a:solidFill>
                <a:latin typeface="Calibri"/>
              </a:rPr>
              <a:t>Logged.     ALL FOUR CHECKS PASS.</a:t>
            </a:r>
          </a:p>
          <a:p>
            <a:pPr algn="l">
              <a:lnSpc>
                <a:spcPct val="118000"/>
              </a:lnSpc>
            </a:pPr>
            <a:r>
              <a:rPr sz="1079" b="0" i="0">
                <a:solidFill>
                  <a:srgbClr val="52514E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079" b="0" i="0">
                <a:solidFill>
                  <a:srgbClr val="52514E"/>
                </a:solidFill>
                <a:latin typeface="Calibri"/>
              </a:rPr>
              <a:t>The data is perfect.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913632"/>
            <a:ext cx="11057839" cy="786384"/>
          </a:xfrm>
          <a:prstGeom prst="roundRect">
            <a:avLst>
              <a:gd name="adj" fmla="val 14000"/>
            </a:avLst>
          </a:prstGeom>
          <a:solidFill>
            <a:srgbClr val="FBEAEA"/>
          </a:solidFill>
          <a:ln w="19050">
            <a:solidFill>
              <a:srgbClr val="D0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49808" y="4023360"/>
            <a:ext cx="10692079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D03B3B"/>
                </a:solidFill>
                <a:latin typeface="Calibri"/>
              </a:rPr>
              <a:t>But Plano's neighbours just changed  -&gt;  our comparison group changed  -&gt;  the estimate changed  -&gt;  the answer moved by millions.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956048"/>
            <a:ext cx="11064240" cy="502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D03B3B"/>
                </a:solidFill>
                <a:latin typeface="Calibri"/>
              </a:rPr>
              <a:t>The data is fine. The conclusion is broken. And nothing checked for that.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5532120"/>
            <a:ext cx="1106424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50" b="0" i="0">
                <a:solidFill>
                  <a:srgbClr val="52514E"/>
                </a:solidFill>
                <a:latin typeface="Calibri"/>
              </a:rPr>
              <a:t>So we add two more checks:  (5) did this move a comparison ZIP into the treated group?   (6) did the answer move more than we agreed in advance? If so, stop and ask a human.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Calibri"/>
              </a:rPr>
              <a:t>Siting Atlas  |  Volume I: Last-Mile Delivery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82296" cy="42062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1088136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0B0B"/>
                </a:solidFill>
                <a:latin typeface="Calibri"/>
              </a:rPr>
              <a:t>Idea 2, drawn — six checks, not four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32688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52514E"/>
                </a:solidFill>
                <a:latin typeface="Calibri"/>
              </a:rPr>
              <a:t>Checks 1–4 protect the DATA. Checks 5–6 protect the CONCLUSION. That distinction is our main contribution.</a:t>
            </a:r>
          </a:p>
        </p:txBody>
      </p:sp>
      <p:pic>
        <p:nvPicPr>
          <p:cNvPr id="5" name="Picture 4" descr="fig03_agent_g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7093" y="1536192"/>
            <a:ext cx="7617508" cy="49194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82296" cy="42062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1088136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0B0B"/>
                </a:solidFill>
                <a:latin typeface="Calibri"/>
              </a:rPr>
              <a:t>Idea 3 — it is a shopping basket, not a ranked 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32688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52514E"/>
                </a:solidFill>
                <a:latin typeface="Calibri"/>
              </a:rPr>
              <a:t>The instinct is to score every ZIP and take the top 20. That is wrong.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5486400" cy="2194560"/>
          </a:xfrm>
          <a:prstGeom prst="roundRect">
            <a:avLst>
              <a:gd name="adj" fmla="val 6000"/>
            </a:avLst>
          </a:prstGeom>
          <a:solidFill>
            <a:srgbClr val="FBEAEA"/>
          </a:solidFill>
          <a:ln w="17780">
            <a:solidFill>
              <a:srgbClr val="D0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49808" y="1600200"/>
            <a:ext cx="512064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D03B3B"/>
                </a:solidFill>
                <a:latin typeface="Calibri"/>
              </a:rPr>
              <a:t>TWO ZIPS, JUDGED ALONE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984248"/>
            <a:ext cx="5120640" cy="15727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21" b="0" i="0">
                <a:solidFill>
                  <a:srgbClr val="52514E"/>
                </a:solidFill>
                <a:latin typeface="Calibri"/>
              </a:rPr>
              <a:t>ZIP A on its own:   loses $200,000</a:t>
            </a:r>
          </a:p>
          <a:p>
            <a:pPr algn="l">
              <a:lnSpc>
                <a:spcPct val="118000"/>
              </a:lnSpc>
            </a:pPr>
            <a:r>
              <a:rPr sz="1121" b="0" i="0">
                <a:solidFill>
                  <a:srgbClr val="52514E"/>
                </a:solidFill>
                <a:latin typeface="Calibri"/>
              </a:rPr>
              <a:t>     too few deliveries to justify a station</a:t>
            </a:r>
          </a:p>
          <a:p>
            <a:pPr algn="l">
              <a:lnSpc>
                <a:spcPct val="118000"/>
              </a:lnSpc>
            </a:pPr>
            <a:r>
              <a:rPr sz="1121" b="0" i="0">
                <a:solidFill>
                  <a:srgbClr val="52514E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121" b="0" i="0">
                <a:solidFill>
                  <a:srgbClr val="52514E"/>
                </a:solidFill>
                <a:latin typeface="Calibri"/>
              </a:rPr>
              <a:t>ZIP B on its own:   loses $150,000</a:t>
            </a:r>
          </a:p>
          <a:p>
            <a:pPr algn="l">
              <a:lnSpc>
                <a:spcPct val="118000"/>
              </a:lnSpc>
            </a:pPr>
            <a:r>
              <a:rPr sz="1121" b="0" i="0">
                <a:solidFill>
                  <a:srgbClr val="52514E"/>
                </a:solidFill>
                <a:latin typeface="Calibri"/>
              </a:rPr>
              <a:t>     same problem</a:t>
            </a:r>
          </a:p>
          <a:p>
            <a:pPr algn="l">
              <a:lnSpc>
                <a:spcPct val="118000"/>
              </a:lnSpc>
            </a:pPr>
            <a:r>
              <a:rPr sz="1121" b="0" i="0">
                <a:solidFill>
                  <a:srgbClr val="52514E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121" b="0" i="0">
                <a:solidFill>
                  <a:srgbClr val="52514E"/>
                </a:solidFill>
                <a:latin typeface="Calibri"/>
              </a:rPr>
              <a:t>A ranked list rejects both.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7648" y="1481328"/>
            <a:ext cx="5486400" cy="2194560"/>
          </a:xfrm>
          <a:prstGeom prst="roundRect">
            <a:avLst>
              <a:gd name="adj" fmla="val 6000"/>
            </a:avLst>
          </a:prstGeom>
          <a:solidFill>
            <a:srgbClr val="EAF7EA"/>
          </a:solidFill>
          <a:ln w="17780">
            <a:solidFill>
              <a:srgbClr val="0CA3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10528" y="1600200"/>
            <a:ext cx="512064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CA30C"/>
                </a:solidFill>
                <a:latin typeface="Calibri"/>
              </a:rPr>
              <a:t>THE SAME TWO,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0528" y="1984248"/>
            <a:ext cx="5120640" cy="15727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21" b="0" i="0">
                <a:solidFill>
                  <a:srgbClr val="52514E"/>
                </a:solidFill>
                <a:latin typeface="Calibri"/>
              </a:rPr>
              <a:t>They are next to each other, so they can</a:t>
            </a:r>
          </a:p>
          <a:p>
            <a:pPr algn="l">
              <a:lnSpc>
                <a:spcPct val="118000"/>
              </a:lnSpc>
            </a:pPr>
            <a:r>
              <a:rPr sz="1121" b="0" i="0">
                <a:solidFill>
                  <a:srgbClr val="52514E"/>
                </a:solidFill>
                <a:latin typeface="Calibri"/>
              </a:rPr>
              <a:t>SHARE one delivery station.</a:t>
            </a:r>
          </a:p>
          <a:p>
            <a:pPr algn="l">
              <a:lnSpc>
                <a:spcPct val="118000"/>
              </a:lnSpc>
            </a:pPr>
            <a:r>
              <a:rPr sz="1121" b="0" i="0">
                <a:solidFill>
                  <a:srgbClr val="52514E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121" b="0" i="0">
                <a:solidFill>
                  <a:srgbClr val="52514E"/>
                </a:solidFill>
                <a:latin typeface="Calibri"/>
              </a:rPr>
              <a:t>Combined deliveries cross the efficiency</a:t>
            </a:r>
          </a:p>
          <a:p>
            <a:pPr algn="l">
              <a:lnSpc>
                <a:spcPct val="118000"/>
              </a:lnSpc>
            </a:pPr>
            <a:r>
              <a:rPr sz="1121" b="0" i="0">
                <a:solidFill>
                  <a:srgbClr val="52514E"/>
                </a:solidFill>
                <a:latin typeface="Calibri"/>
              </a:rPr>
              <a:t>threshold. Cost per package drops 30%.</a:t>
            </a:r>
          </a:p>
          <a:p>
            <a:pPr algn="l">
              <a:lnSpc>
                <a:spcPct val="118000"/>
              </a:lnSpc>
            </a:pPr>
            <a:r>
              <a:rPr sz="1121" b="0" i="0">
                <a:solidFill>
                  <a:srgbClr val="52514E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121" b="0" i="0">
                <a:solidFill>
                  <a:srgbClr val="52514E"/>
                </a:solidFill>
                <a:latin typeface="Calibri"/>
              </a:rPr>
              <a:t>Together:   makes $1,100,000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977639"/>
            <a:ext cx="11057839" cy="786384"/>
          </a:xfrm>
          <a:prstGeom prst="roundRect">
            <a:avLst>
              <a:gd name="adj" fmla="val 14000"/>
            </a:avLst>
          </a:prstGeom>
          <a:solidFill>
            <a:srgbClr val="EAF7EA"/>
          </a:solidFill>
          <a:ln w="19050">
            <a:solidFill>
              <a:srgbClr val="0CA3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49808" y="4087367"/>
            <a:ext cx="10692079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CA30C"/>
                </a:solidFill>
                <a:latin typeface="Calibri"/>
              </a:rPr>
              <a:t>A ranked list never even evaluates the pair. So we choose bundles instead.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5029200"/>
            <a:ext cx="11064240" cy="10058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22000"/>
              </a:lnSpc>
            </a:pPr>
            <a:r>
              <a:rPr sz="1350" b="0" i="1">
                <a:solidFill>
                  <a:srgbClr val="898781"/>
                </a:solidFill>
                <a:latin typeface="Calibri"/>
              </a:rPr>
              <a:t>Honest note: this is not our invention. Supply-chain software has optimised multi-site networks for twenty years. We include it because a ranked list is simply the wrong model of the decision — it is a correctness fix, not a claim to novelty.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Calibri"/>
              </a:rPr>
              <a:t>Siting Atlas  |  Volume I: Last-Mile Delivery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82296" cy="42062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1088136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0B0B"/>
                </a:solidFill>
                <a:latin typeface="Calibri"/>
              </a:rPr>
              <a:t>How we say how confident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32688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52514E"/>
                </a:solidFill>
                <a:latin typeface="Calibri"/>
              </a:rPr>
              <a:t>"Accuracy" means four different things. We report all four.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2688336" cy="2606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49808" y="1600200"/>
            <a:ext cx="2322576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A78D6"/>
                </a:solidFill>
                <a:latin typeface="Calibri"/>
              </a:rPr>
              <a:t>DOES IT RANK WELL?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984248"/>
            <a:ext cx="2322576" cy="198424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52514E"/>
                </a:solidFill>
                <a:latin typeface="Calibri"/>
              </a:rPr>
              <a:t>AUC.  Pick one ZIP that got service and one that didn't — how often does the model score the right one higher?</a:t>
            </a:r>
          </a:p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52514E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52514E"/>
                </a:solidFill>
                <a:latin typeface="Calibri"/>
              </a:rPr>
              <a:t>0.5 = coin flip.  We targeted 0.80 and measured 0.6894.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38144" y="1481328"/>
            <a:ext cx="2688336" cy="2606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621024" y="1600200"/>
            <a:ext cx="2322576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A78D6"/>
                </a:solidFill>
                <a:latin typeface="Calibri"/>
              </a:rPr>
              <a:t>ARE THE ODDS HONEST?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21024" y="1984248"/>
            <a:ext cx="2322576" cy="198424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52514E"/>
                </a:solidFill>
                <a:latin typeface="Calibri"/>
              </a:rPr>
              <a:t>Calibration.  When the model says '60% chance', does it happen about 60% of the time?</a:t>
            </a:r>
          </a:p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52514E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52514E"/>
                </a:solidFill>
                <a:latin typeface="Calibri"/>
              </a:rPr>
              <a:t>Matters because councils act on that number.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481328"/>
            <a:ext cx="2688336" cy="2606040"/>
          </a:xfrm>
          <a:prstGeom prst="roundRect">
            <a:avLst>
              <a:gd name="adj" fmla="val 6000"/>
            </a:avLst>
          </a:prstGeom>
          <a:solidFill>
            <a:srgbClr val="FDF0EA"/>
          </a:solidFill>
          <a:ln w="17780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92240" y="1600200"/>
            <a:ext cx="2322576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96" b="1" i="0">
                <a:solidFill>
                  <a:srgbClr val="EB6834"/>
                </a:solidFill>
                <a:latin typeface="Calibri"/>
              </a:rPr>
              <a:t>HOW WRONG COULD WE BE?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984248"/>
            <a:ext cx="2322576" cy="198424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52514E"/>
                </a:solidFill>
                <a:latin typeface="Calibri"/>
              </a:rPr>
              <a:t>Conformal intervals.  We give a range — and then CHECK the range works on held-out data.</a:t>
            </a:r>
          </a:p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52514E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52514E"/>
                </a:solidFill>
                <a:latin typeface="Calibri"/>
              </a:rPr>
              <a:t>A measured guarantee, not an assumed one.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80576" y="1481328"/>
            <a:ext cx="2688336" cy="2606040"/>
          </a:xfrm>
          <a:prstGeom prst="roundRect">
            <a:avLst>
              <a:gd name="adj" fmla="val 6000"/>
            </a:avLst>
          </a:prstGeom>
          <a:solidFill>
            <a:srgbClr val="FDF0EA"/>
          </a:solidFill>
          <a:ln w="17780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63456" y="1600200"/>
            <a:ext cx="2322576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6" b="1" i="0">
                <a:solidFill>
                  <a:srgbClr val="EB6834"/>
                </a:solidFill>
                <a:latin typeface="Calibri"/>
              </a:rPr>
              <a:t>WOULD THE ANSWER CHANGE?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63456" y="1984248"/>
            <a:ext cx="2322576" cy="198424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52514E"/>
                </a:solidFill>
                <a:latin typeface="Calibri"/>
              </a:rPr>
              <a:t>Rank stability.  Re-run everything many times with slightly different assumptions; does this ZIP stay in the top ten?</a:t>
            </a:r>
          </a:p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52514E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52514E"/>
                </a:solidFill>
                <a:latin typeface="Calibri"/>
              </a:rPr>
              <a:t>SPECIFIED, NOT YET RUN.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343400"/>
            <a:ext cx="11057839" cy="786384"/>
          </a:xfrm>
          <a:prstGeom prst="roundRect">
            <a:avLst>
              <a:gd name="adj" fmla="val 14000"/>
            </a:avLst>
          </a:prstGeom>
          <a:solidFill>
            <a:srgbClr val="EAF2FC"/>
          </a:solidFill>
          <a:ln w="1905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49808" y="4453128"/>
            <a:ext cx="10692079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2A78D6"/>
                </a:solidFill>
                <a:latin typeface="Calibri"/>
              </a:rPr>
              <a:t>What the third one measured:  we asked for 90% coverage and got 88.19% — inside the 3.2pp band that 351 independent units allow.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394960"/>
            <a:ext cx="1106424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0" i="1">
                <a:solidFill>
                  <a:srgbClr val="898781"/>
                </a:solidFill>
                <a:latin typeface="Calibri"/>
              </a:rPr>
              <a:t>That is the question an executive actually has, and almost no student project answers 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Calibri"/>
              </a:rPr>
              <a:t>Siting Atlas  |  Volume I: Last-Mile Delivery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82296" cy="42062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1088136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0B0B"/>
                </a:solidFill>
                <a:latin typeface="Calibri"/>
              </a:rPr>
              <a:t>We scored it, and it failed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32688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52514E"/>
                </a:solidFill>
                <a:latin typeface="Calibri"/>
              </a:rPr>
              <a:t>AUC 0.6894 against 0.5000 for a constant. Brier 0.019522 against 0.019614. Calibration error 0.00863 against 0.00005.</a:t>
            </a:r>
          </a:p>
        </p:txBody>
      </p:sp>
      <p:pic>
        <p:nvPicPr>
          <p:cNvPr id="5" name="Picture 4" descr="fig08_back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922" y="1536192"/>
            <a:ext cx="9197851" cy="45079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144768"/>
            <a:ext cx="11064240" cy="60350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1">
                <a:solidFill>
                  <a:srgbClr val="898781"/>
                </a:solidFill>
                <a:latin typeface="Calibri"/>
              </a:rPr>
              <a:t>Every number on this slide is read from outputs/metrics/hazard_report.json. The model ranks slightly better than chance and forecasts no better than a constant, and is worse calibrated than one. That is the finding: the unit of analysis was wrong, not the sample size.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82296" cy="42062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1088136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0B0B"/>
                </a:solidFill>
                <a:latin typeface="Calibri"/>
              </a:rPr>
              <a:t>How this differs from what the market already sells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32688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52514E"/>
                </a:solidFill>
                <a:latin typeface="Calibri"/>
              </a:rPr>
              <a:t>The honest version: every single technique here already exists somewhere, behind a paywall.</a:t>
            </a:r>
          </a:p>
        </p:txBody>
      </p:sp>
      <p:pic>
        <p:nvPicPr>
          <p:cNvPr id="5" name="Picture 4" descr="fig14_mar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696" y="1536192"/>
            <a:ext cx="8064302" cy="491947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82296" cy="42062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1088136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0B0B"/>
                </a:solidFill>
                <a:latin typeface="Calibri"/>
              </a:rPr>
              <a:t>So what is actually new?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32688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52514E"/>
                </a:solidFill>
                <a:latin typeface="Calibri"/>
              </a:rPr>
              <a:t>Four claims. Each written so a product brochure cannot disprove it.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481328"/>
          <a:ext cx="1106424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"/>
                <a:gridCol w="4754880"/>
                <a:gridCol w="5925312"/>
              </a:tblGrid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0B0B0B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anchor="ctr" marL="82296" marR="82296" marT="27432" marB="27432"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0B0B0B"/>
                          </a:solidFill>
                          <a:latin typeface="Calibri"/>
                        </a:rPr>
                        <a:t>What we claim</a:t>
                      </a:r>
                    </a:p>
                  </a:txBody>
                  <a:tcPr anchor="ctr" marL="82296" marR="82296" marT="27432" marB="27432"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0B0B0B"/>
                          </a:solidFill>
                          <a:latin typeface="Calibri"/>
                        </a:rPr>
                        <a:t>Why it survives checking</a:t>
                      </a:r>
                    </a:p>
                  </a:txBody>
                  <a:tcPr anchor="ctr" marL="82296" marR="82296" marT="27432" marB="27432">
                    <a:solidFill>
                      <a:srgbClr val="EAF2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52514E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52514E"/>
                          </a:solidFill>
                          <a:latin typeface="Calibri"/>
                        </a:rPr>
                        <a:t>A new kind of safety check for AI systems that write to a statistical model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52514E"/>
                          </a:solidFill>
                          <a:latin typeface="Calibri"/>
                        </a:rPr>
                        <a:t>Everyone else protects the DATA. Nobody checks whether a valid write breaks the CONCLUSION.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52514E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52514E"/>
                          </a:solidFill>
                          <a:latin typeface="Calibri"/>
                        </a:rPr>
                        <a:t>The first published number for how far delivery cannibalization reaches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52514E"/>
                          </a:solidFill>
                          <a:latin typeface="Calibri"/>
                        </a:rPr>
                        <a:t>The method is borrowed and credited. The number for same-day delivery is not published anywhere.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52514E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52514E"/>
                          </a:solidFill>
                          <a:latin typeface="Calibri"/>
                        </a:rPr>
                        <a:t>How much of a giant company's expansion is visible from public data alone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52514E"/>
                          </a:solidFill>
                          <a:latin typeface="Calibri"/>
                        </a:rPr>
                        <a:t>Nobody has measured this. 70% is a finding about transparency; 40% is a finding about opacity.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52514E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52514E"/>
                          </a:solidFill>
                          <a:latin typeface="Calibri"/>
                        </a:rPr>
                        <a:t>The artifact itself — free, open, checkable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52514E"/>
                          </a:solidFill>
                          <a:latin typeface="Calibri"/>
                        </a:rPr>
                        <a:t>Every commercial equivalent is licensed and unauditable. A council cannot inspect any of them.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66928" y="4462272"/>
            <a:ext cx="11057839" cy="786384"/>
          </a:xfrm>
          <a:prstGeom prst="roundRect">
            <a:avLst>
              <a:gd name="adj" fmla="val 14000"/>
            </a:avLst>
          </a:prstGeom>
          <a:solidFill>
            <a:srgbClr val="EAF7EA"/>
          </a:solidFill>
          <a:ln w="19050">
            <a:solidFill>
              <a:srgbClr val="0CA3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49808" y="4572000"/>
            <a:ext cx="10692079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CA30C"/>
                </a:solidFill>
                <a:latin typeface="Calibri"/>
              </a:rPr>
              <a:t>We never write "first" or "novel". We write "not published in the open literature" and "not available as something anybody can check."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5358383"/>
            <a:ext cx="11064240" cy="38404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1">
                <a:solidFill>
                  <a:srgbClr val="898781"/>
                </a:solidFill>
                <a:latin typeface="Calibri"/>
              </a:rPr>
              <a:t>Those statements stay true no matter what Esri ships or what the operator runs internally — because none of it can be inspected.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Calibri"/>
              </a:rPr>
              <a:t>Siting Atlas  |  Volume I: Last-Mile Delivery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82296" cy="42062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1088136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0B0B"/>
                </a:solidFill>
                <a:latin typeface="Calibri"/>
              </a:rPr>
              <a:t>And three things we deliberately do NOT claim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32688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52514E"/>
                </a:solidFill>
                <a:latin typeface="Calibri"/>
              </a:rPr>
              <a:t>We checked our own claims against the literature and the market. Three did not survive.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481328"/>
          <a:ext cx="11064240" cy="23331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4023360"/>
                <a:gridCol w="3840480"/>
              </a:tblGrid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0B0B0B"/>
                          </a:solidFill>
                          <a:latin typeface="Calibri"/>
                        </a:rPr>
                        <a:t>Tempting claim</a:t>
                      </a:r>
                    </a:p>
                  </a:txBody>
                  <a:tcPr anchor="ctr" marL="82296" marR="82296" marT="27432" marB="27432"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0B0B0B"/>
                          </a:solidFill>
                          <a:latin typeface="Calibri"/>
                        </a:rPr>
                        <a:t>Why it fails</a:t>
                      </a:r>
                    </a:p>
                  </a:txBody>
                  <a:tcPr anchor="ctr" marL="82296" marR="82296" marT="27432" marB="27432"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0B0B0B"/>
                          </a:solidFill>
                          <a:latin typeface="Calibri"/>
                        </a:rPr>
                        <a:t>What we say instead</a:t>
                      </a:r>
                    </a:p>
                  </a:txBody>
                  <a:tcPr anchor="ctr" marL="82296" marR="82296" marT="27432" marB="27432">
                    <a:solidFill>
                      <a:srgbClr val="EAF2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52514E"/>
                          </a:solidFill>
                          <a:latin typeface="Calibri"/>
                        </a:rPr>
                        <a:t>"Nobody has gated an AI write before"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52514E"/>
                          </a:solidFill>
                          <a:latin typeface="Calibri"/>
                        </a:rPr>
                        <a:t>Extensive published work and shipped open-source tools already do this.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52514E"/>
                          </a:solidFill>
                          <a:latin typeface="Calibri"/>
                        </a:rPr>
                        <a:t>We claim only the identification check — a distinct failure nobody covers.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52514E"/>
                          </a:solidFill>
                          <a:latin typeface="Calibri"/>
                        </a:rPr>
                        <a:t>"Spatial models always fix the neighbour matrix"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52514E"/>
                          </a:solidFill>
                          <a:latin typeface="Calibri"/>
                        </a:rPr>
                        <a:t>Several papers estimate it. One prominent paper argues results barely depend on it.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52514E"/>
                          </a:solidFill>
                          <a:latin typeface="Calibri"/>
                        </a:rPr>
                        <a:t>We use it as live state instead, and TEST whether that changes anything.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687273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52514E"/>
                          </a:solidFill>
                          <a:latin typeface="Calibri"/>
                        </a:rPr>
                        <a:t>"We react faster than the operator"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52514E"/>
                          </a:solidFill>
                          <a:latin typeface="Calibri"/>
                        </a:rPr>
                        <a:t>Compares our compute time to their approval process. Their process is slow because a human signs off $4M.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52514E"/>
                          </a:solidFill>
                          <a:latin typeface="Calibri"/>
                        </a:rPr>
                        <a:t>Dropped entirely. It was a category error and the number was unsourceable.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66928" y="3979113"/>
            <a:ext cx="11057839" cy="786384"/>
          </a:xfrm>
          <a:prstGeom prst="roundRect">
            <a:avLst>
              <a:gd name="adj" fmla="val 14000"/>
            </a:avLst>
          </a:prstGeom>
          <a:solidFill>
            <a:srgbClr val="EAF2FC"/>
          </a:solidFill>
          <a:ln w="1905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49808" y="4088841"/>
            <a:ext cx="10692079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2A78D6"/>
                </a:solidFill>
                <a:latin typeface="Calibri"/>
              </a:rPr>
              <a:t>Saying this out loud is not a weakness. It is the reason to believe the four claims we kept.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Calibri"/>
              </a:rPr>
              <a:t>Siting Atlas  |  Volume I: Last-Mile Delivery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82296" cy="42062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1088136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0B0B"/>
                </a:solidFill>
                <a:latin typeface="Calibri"/>
              </a:rPr>
              <a:t>The awkward questions, answered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32688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52514E"/>
                </a:solidFill>
                <a:latin typeface="Calibri"/>
              </a:rPr>
              <a:t>Every limitation, paired with what we do about it.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481328"/>
          <a:ext cx="11064240" cy="23742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6040"/>
                <a:gridCol w="5623560"/>
                <a:gridCol w="2834640"/>
              </a:tblGrid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B0B0B"/>
                          </a:solidFill>
                          <a:latin typeface="Calibri"/>
                        </a:rPr>
                        <a:t>The objection</a:t>
                      </a:r>
                    </a:p>
                  </a:txBody>
                  <a:tcPr anchor="ctr" marL="82296" marR="82296" marT="27432" marB="27432"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B0B0B"/>
                          </a:solidFill>
                          <a:latin typeface="Calibri"/>
                        </a:rPr>
                        <a:t>What we do</a:t>
                      </a:r>
                    </a:p>
                  </a:txBody>
                  <a:tcPr anchor="ctr" marL="82296" marR="82296" marT="27432" marB="27432"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B0B0B"/>
                          </a:solidFill>
                          <a:latin typeface="Calibri"/>
                        </a:rPr>
                        <a:t>What still bites</a:t>
                      </a:r>
                    </a:p>
                  </a:txBody>
                  <a:tcPr anchor="ctr" marL="82296" marR="82296" marT="27432" marB="27432">
                    <a:solidFill>
                      <a:srgbClr val="EAF2FC"/>
                    </a:solidFill>
                  </a:tcPr>
                </a:tc>
              </a:tr>
              <a:tr h="638467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"Census data is two years old"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The operator faced the SAME lag — there is no private census. And decisions take 18–36 months, so old data matches the decision date. We add monthly rents and building permits for what moves fast.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An area that changed in the last 18 months with no permit signal. We flag it.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638467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"You cannot measure revenue"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Six of our eight outputs do not need it — ranking does not change if every number is scaled the same. We report profit as a multiple of margin, with the break-even value.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If margin varies by area, ranking shifts. We test that as a worst case.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"Your facility dates might be wrong"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Hand-check 100, publish the error rate, and deliberately corrupt dates in a simulation to measure how much accuracy would drop.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Small stations are under-reported. Stated.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66928" y="3983558"/>
            <a:ext cx="11057839" cy="786384"/>
          </a:xfrm>
          <a:prstGeom prst="roundRect">
            <a:avLst>
              <a:gd name="adj" fmla="val 14000"/>
            </a:avLst>
          </a:prstGeom>
          <a:solidFill>
            <a:srgbClr val="FBEAEA"/>
          </a:solidFill>
          <a:ln w="19050">
            <a:solidFill>
              <a:srgbClr val="D0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49808" y="4093286"/>
            <a:ext cx="10692079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D03B3B"/>
                </a:solidFill>
                <a:latin typeface="Calibri"/>
              </a:rPr>
              <a:t>Four things have NO workaround, and we say so. That is what makes the rest believable.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Calibri"/>
              </a:rPr>
              <a:t>Siting Atlas  |  Volume I: Last-Mile Delivery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82296" cy="42062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1088136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0B0B"/>
                </a:solidFill>
                <a:latin typeface="Calibri"/>
              </a:rPr>
              <a:t>"But the data is old" — the full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32688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52514E"/>
                </a:solidFill>
                <a:latin typeface="Calibri"/>
              </a:rPr>
              <a:t>We are not behind the decision-maker. They read the same public releases we do.</a:t>
            </a:r>
          </a:p>
        </p:txBody>
      </p:sp>
      <p:pic>
        <p:nvPicPr>
          <p:cNvPr id="5" name="Picture 4" descr="fig13_curr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727" y="1536192"/>
            <a:ext cx="9612240" cy="491947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82296" cy="42062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1088136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0B0B"/>
                </a:solidFill>
                <a:latin typeface="Calibri"/>
              </a:rPr>
              <a:t>Can three people actually build this?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32688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52514E"/>
                </a:solidFill>
                <a:latin typeface="Calibri"/>
              </a:rPr>
              <a:t>We sized it before committing. The answer is yes, and here is why.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3529584" cy="1572768"/>
          </a:xfrm>
          <a:prstGeom prst="roundRect">
            <a:avLst>
              <a:gd name="adj" fmla="val 8000"/>
            </a:avLst>
          </a:prstGeom>
          <a:solidFill>
            <a:srgbClr val="F9F9F7"/>
          </a:solidFill>
          <a:ln w="1651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627632"/>
            <a:ext cx="3529584" cy="56692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2A78D6"/>
                </a:solidFill>
                <a:latin typeface="Calibri"/>
              </a:rPr>
              <a:t>1,081,312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249424"/>
            <a:ext cx="3529584" cy="7498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0" i="0">
                <a:solidFill>
                  <a:srgbClr val="52514E"/>
                </a:solidFill>
                <a:latin typeface="Calibri"/>
              </a:rPr>
              <a:t>rows in the table we actually model on.</a:t>
            </a:r>
          </a:p>
          <a:p>
            <a:pPr algn="ctr">
              <a:lnSpc>
                <a:spcPct val="112000"/>
              </a:lnSpc>
            </a:pPr>
            <a:r>
              <a:rPr sz="1150" b="0" i="0">
                <a:solidFill>
                  <a:srgbClr val="52514E"/>
                </a:solidFill>
                <a:latin typeface="Calibri"/>
              </a:rPr>
              <a:t>This fits in memory on any laptop.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5968" y="1481328"/>
            <a:ext cx="3529584" cy="1572768"/>
          </a:xfrm>
          <a:prstGeom prst="roundRect">
            <a:avLst>
              <a:gd name="adj" fmla="val 8000"/>
            </a:avLst>
          </a:prstGeom>
          <a:solidFill>
            <a:srgbClr val="EAF7EA"/>
          </a:solidFill>
          <a:ln w="16510">
            <a:solidFill>
              <a:srgbClr val="0CA3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315968" y="1627632"/>
            <a:ext cx="3529584" cy="56692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0CA30C"/>
                </a:solidFill>
                <a:latin typeface="Calibri"/>
              </a:rPr>
              <a:t>$0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5968" y="2249424"/>
            <a:ext cx="3529584" cy="7498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0" i="0">
                <a:solidFill>
                  <a:srgbClr val="52514E"/>
                </a:solidFill>
                <a:latin typeface="Calibri"/>
              </a:rPr>
              <a:t>compute cost. Everything runs locally or</a:t>
            </a:r>
          </a:p>
          <a:p>
            <a:pPr algn="ctr">
              <a:lnSpc>
                <a:spcPct val="112000"/>
              </a:lnSpc>
            </a:pPr>
            <a:r>
              <a:rPr sz="1150" b="0" i="0">
                <a:solidFill>
                  <a:srgbClr val="52514E"/>
                </a:solidFill>
                <a:latin typeface="Calibri"/>
              </a:rPr>
              <a:t>on free tiers.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5008" y="1481328"/>
            <a:ext cx="3529584" cy="1572768"/>
          </a:xfrm>
          <a:prstGeom prst="roundRect">
            <a:avLst>
              <a:gd name="adj" fmla="val 8000"/>
            </a:avLst>
          </a:prstGeom>
          <a:solidFill>
            <a:srgbClr val="F9F9F7"/>
          </a:solidFill>
          <a:ln w="1651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065008" y="1627632"/>
            <a:ext cx="3529584" cy="56692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2A78D6"/>
                </a:solidFill>
                <a:latin typeface="Calibri"/>
              </a:rPr>
              <a:t>16 GB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2249424"/>
            <a:ext cx="3529584" cy="7498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0" i="0">
                <a:solidFill>
                  <a:srgbClr val="52514E"/>
                </a:solidFill>
                <a:latin typeface="Calibri"/>
              </a:rPr>
              <a:t>RAM is enough. No GPU is needed</a:t>
            </a:r>
          </a:p>
          <a:p>
            <a:pPr algn="ctr">
              <a:lnSpc>
                <a:spcPct val="112000"/>
              </a:lnSpc>
            </a:pPr>
            <a:r>
              <a:rPr sz="1150" b="0" i="0">
                <a:solidFill>
                  <a:srgbClr val="52514E"/>
                </a:solidFill>
                <a:latin typeface="Calibri"/>
              </a:rPr>
              <a:t>anywhere in the project.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310128"/>
            <a:ext cx="5486400" cy="2148840"/>
          </a:xfrm>
          <a:prstGeom prst="roundRect">
            <a:avLst>
              <a:gd name="adj" fmla="val 6000"/>
            </a:avLst>
          </a:prstGeom>
          <a:solidFill>
            <a:srgbClr val="FBEAEA"/>
          </a:solidFill>
          <a:ln w="17780">
            <a:solidFill>
              <a:srgbClr val="D0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49808" y="3429000"/>
            <a:ext cx="512064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D03B3B"/>
                </a:solidFill>
                <a:latin typeface="Calibri"/>
              </a:rPr>
              <a:t>THE ONE THING THAT WOULD HAVE BROKEN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813048"/>
            <a:ext cx="5120640" cy="152704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52514E"/>
                </a:solidFill>
                <a:latin typeface="Calibri"/>
              </a:rPr>
              <a:t>Road-network processing. Doing it for ten cities at once needs about 30 GB of working files and more memory than a student laptop has.</a:t>
            </a:r>
          </a:p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52514E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52514E"/>
                </a:solidFill>
                <a:latin typeface="Calibri"/>
              </a:rPr>
              <a:t>We nearly put that on the critical path.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7648" y="3310128"/>
            <a:ext cx="5486400" cy="2148840"/>
          </a:xfrm>
          <a:prstGeom prst="roundRect">
            <a:avLst>
              <a:gd name="adj" fmla="val 6000"/>
            </a:avLst>
          </a:prstGeom>
          <a:solidFill>
            <a:srgbClr val="EAF7EA"/>
          </a:solidFill>
          <a:ln w="17780">
            <a:solidFill>
              <a:srgbClr val="0CA3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510528" y="3429000"/>
            <a:ext cx="512064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CA30C"/>
                </a:solidFill>
                <a:latin typeface="Calibri"/>
              </a:rPr>
              <a:t>THE FIX — DELETE IT AFTERWARDS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3813048"/>
            <a:ext cx="5120640" cy="152704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22" b="0" i="0">
                <a:solidFill>
                  <a:srgbClr val="52514E"/>
                </a:solidFill>
                <a:latin typeface="Calibri"/>
              </a:rPr>
              <a:t>We do not need a routing SERVICE. We need a TABLE of drive times.</a:t>
            </a:r>
          </a:p>
          <a:p>
            <a:pPr algn="l">
              <a:lnSpc>
                <a:spcPct val="118000"/>
              </a:lnSpc>
            </a:pPr>
            <a:r>
              <a:rPr sz="1222" b="0" i="0">
                <a:solidFill>
                  <a:srgbClr val="52514E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222" b="0" i="0">
                <a:solidFill>
                  <a:srgbClr val="52514E"/>
                </a:solidFill>
                <a:latin typeface="Calibri"/>
              </a:rPr>
              <a:t>Process one city, save the table, delete everything else, move on. Peak disk drops from 60 GB to 8 GB, and the finished app carries a 10 MB file instead of a routing engine.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5806440"/>
            <a:ext cx="1106424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0" i="1">
                <a:solidFill>
                  <a:srgbClr val="898781"/>
                </a:solidFill>
                <a:latin typeface="Calibri"/>
              </a:rPr>
              <a:t>This is the kind of decision that makes a project ship on time.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Calibri"/>
              </a:rPr>
              <a:t>Siting Atlas  |  Volume I: Last-Mile Delivery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82296" cy="42062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1088136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0B0B"/>
                </a:solidFill>
                <a:latin typeface="Calibri"/>
              </a:rPr>
              <a:t>"Isn't 1,081,312 rows small?"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32688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52514E"/>
                </a:solidFill>
                <a:latin typeface="Calibri"/>
              </a:rPr>
              <a:t>Row count is the only dimension on which this project is small — and it is small on purpose.</a:t>
            </a:r>
          </a:p>
        </p:txBody>
      </p:sp>
      <p:pic>
        <p:nvPicPr>
          <p:cNvPr id="5" name="Picture 4" descr="fig12_sc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961" y="1536192"/>
            <a:ext cx="9263772" cy="491947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82296" cy="42062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1088136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0B0B"/>
                </a:solidFill>
                <a:latin typeface="Calibri"/>
              </a:rPr>
              <a:t>Where the data comes from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32688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52514E"/>
                </a:solidFill>
                <a:latin typeface="Calibri"/>
              </a:rPr>
              <a:t>Eleven sources. All free, all public, all re-downloadable by a stranger.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481328"/>
          <a:ext cx="11064239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39"/>
                <a:gridCol w="5486400"/>
                <a:gridCol w="1828800"/>
              </a:tblGrid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B0B0B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anchor="ctr" marL="82296" marR="82296" marT="27432" marB="27432"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B0B0B"/>
                          </a:solidFill>
                          <a:latin typeface="Calibri"/>
                        </a:rPr>
                        <a:t>What it gives us</a:t>
                      </a:r>
                    </a:p>
                  </a:txBody>
                  <a:tcPr anchor="ctr" marL="82296" marR="82296" marT="27432" marB="27432"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B0B0B"/>
                          </a:solidFill>
                          <a:latin typeface="Calibri"/>
                        </a:rPr>
                        <a:t>How fresh</a:t>
                      </a:r>
                    </a:p>
                  </a:txBody>
                  <a:tcPr anchor="ctr" marL="82296" marR="82296" marT="27432" marB="27432">
                    <a:solidFill>
                      <a:srgbClr val="EAF2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Census ACS (5-year and 1-year)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Income, age, population, household size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9–24 months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Census TIGER/Line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The map — ZIP-area boundaries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Annual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Zillow rent and value indices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Local cost of space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Monthly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Census County Business Patterns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How many shops and businesses are nearby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Annual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Census Building Permits Survey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Construction — a signal of change BEFORE it shows up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Monthly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BLS wages  ·  EIA energy prices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What it costs to run a station in each city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Monthly–annual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Facility openings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What we are predicting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Continuous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EPA EJScreen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Pollution and demographic burden, for the equity map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Periodic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OpenStreetMap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Drive times — used once, then deleted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52514E"/>
                          </a:solidFill>
                          <a:latin typeface="Calibri"/>
                        </a:rPr>
                        <a:t>Continuous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66928" y="5266944"/>
            <a:ext cx="11057839" cy="786384"/>
          </a:xfrm>
          <a:prstGeom prst="roundRect">
            <a:avLst>
              <a:gd name="adj" fmla="val 14000"/>
            </a:avLst>
          </a:prstGeom>
          <a:solidFill>
            <a:srgbClr val="EAF7EA"/>
          </a:solidFill>
          <a:ln w="19050">
            <a:solidFill>
              <a:srgbClr val="0CA3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49808" y="5376672"/>
            <a:ext cx="10692079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CA30C"/>
                </a:solidFill>
                <a:latin typeface="Calibri"/>
              </a:rPr>
              <a:t>No paid API, no licensed panel, no login. That is what makes the whole thing reproducible — and it is the point.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Calibri"/>
              </a:rPr>
              <a:t>Siting Atlas  |  Volume I: Last-Mile Delivery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82296" cy="42062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1088136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0B0B"/>
                </a:solidFill>
                <a:latin typeface="Calibri"/>
              </a:rPr>
              <a:t>How the pieces fit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32688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52514E"/>
                </a:solidFill>
                <a:latin typeface="Calibri"/>
              </a:rPr>
              <a:t>Public sources on top, the decision at the bottom. Orange marks the parts that carry the contribution.</a:t>
            </a:r>
          </a:p>
        </p:txBody>
      </p:sp>
      <p:pic>
        <p:nvPicPr>
          <p:cNvPr id="5" name="Picture 4" descr="fig01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384" y="1536192"/>
            <a:ext cx="7162926" cy="491947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82296" cy="42062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1088136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0B0B"/>
                </a:solidFill>
                <a:latin typeface="Calibri"/>
              </a:rPr>
              <a:t>The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32688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52514E"/>
                </a:solidFill>
                <a:latin typeface="Calibri"/>
              </a:rPr>
              <a:t>Nine weeks. Week 0 exists because some decisions are cheap now and expensive later.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481328"/>
          <a:ext cx="110642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5669280"/>
                <a:gridCol w="4480560"/>
              </a:tblGrid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0B0B0B"/>
                          </a:solidFill>
                          <a:latin typeface="Calibri"/>
                        </a:rPr>
                        <a:t>Week</a:t>
                      </a:r>
                    </a:p>
                  </a:txBody>
                  <a:tcPr anchor="ctr" marL="82296" marR="82296" marT="27432" marB="27432"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0B0B0B"/>
                          </a:solidFill>
                          <a:latin typeface="Calibri"/>
                        </a:rPr>
                        <a:t>What happens</a:t>
                      </a:r>
                    </a:p>
                  </a:txBody>
                  <a:tcPr anchor="ctr" marL="82296" marR="82296" marT="27432" marB="27432"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0B0B0B"/>
                          </a:solidFill>
                          <a:latin typeface="Calibri"/>
                        </a:rPr>
                        <a:t>Done when…</a:t>
                      </a:r>
                    </a:p>
                  </a:txBody>
                  <a:tcPr anchor="ctr" marL="82296" marR="82296" marT="27432" marB="27432">
                    <a:solidFill>
                      <a:srgbClr val="EAF2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52514E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52514E"/>
                          </a:solidFill>
                          <a:latin typeface="Calibri"/>
                        </a:rPr>
                        <a:t>Decisions: what we predict, routing strategy, scope, budget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52514E"/>
                          </a:solidFill>
                          <a:latin typeface="Calibri"/>
                        </a:rPr>
                        <a:t>All six settled in writing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52514E"/>
                          </a:solidFill>
                          <a:latin typeface="Calibri"/>
                        </a:rPr>
                        <a:t>1–2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52514E"/>
                          </a:solidFill>
                          <a:latin typeface="Calibri"/>
                        </a:rPr>
                        <a:t>Pipeline and the facility table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52514E"/>
                          </a:solidFill>
                          <a:latin typeface="Calibri"/>
                        </a:rPr>
                        <a:t>Builds from scratch in one command, offline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52514E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52514E"/>
                          </a:solidFill>
                          <a:latin typeface="Calibri"/>
                        </a:rPr>
                        <a:t>Drive times and cost model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52514E"/>
                          </a:solidFill>
                          <a:latin typeface="Calibri"/>
                        </a:rPr>
                        <a:t>Tables saved, big files deleted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52514E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52514E"/>
                          </a:solidFill>
                          <a:latin typeface="Calibri"/>
                        </a:rPr>
                        <a:t>The model and the backtest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52514E"/>
                          </a:solidFill>
                          <a:latin typeface="Calibri"/>
                        </a:rPr>
                        <a:t>A real accuracy number we can defend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52514E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52514E"/>
                          </a:solidFill>
                          <a:latin typeface="Calibri"/>
                        </a:rPr>
                        <a:t>Cannibalization and the decay curve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52514E"/>
                          </a:solidFill>
                          <a:latin typeface="Calibri"/>
                        </a:rPr>
                        <a:t>A published number with error bars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52514E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52514E"/>
                          </a:solidFill>
                          <a:latin typeface="Calibri"/>
                        </a:rPr>
                        <a:t>Money layer and the app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52514E"/>
                          </a:solidFill>
                          <a:latin typeface="Calibri"/>
                        </a:rPr>
                        <a:t>Deployed, loads in under 5 seconds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52514E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52514E"/>
                          </a:solidFill>
                          <a:latin typeface="Calibri"/>
                        </a:rPr>
                        <a:t>The agent and the six checks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52514E"/>
                          </a:solidFill>
                          <a:latin typeface="Calibri"/>
                        </a:rPr>
                        <a:t>Adversarial test set passing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52514E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52514E"/>
                          </a:solidFill>
                          <a:latin typeface="Calibri"/>
                        </a:rPr>
                        <a:t>Paper, dataset release, write-up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52514E"/>
                          </a:solidFill>
                          <a:latin typeface="Calibri"/>
                        </a:rPr>
                        <a:t>Dataset public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52514E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52514E"/>
                          </a:solidFill>
                          <a:latin typeface="Calibri"/>
                        </a:rPr>
                        <a:t>Buffer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52514E"/>
                          </a:solidFill>
                          <a:latin typeface="Calibri"/>
                        </a:rPr>
                        <a:t>Presentation delivered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Calibri"/>
              </a:rPr>
              <a:t>Siting Atlas  |  Volume I: Last-Mile Delivery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82296" cy="42062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1088136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0B0B"/>
                </a:solidFill>
                <a:latin typeface="Calibri"/>
              </a:rPr>
              <a:t>Who does what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32688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52514E"/>
                </a:solidFill>
                <a:latin typeface="Calibri"/>
              </a:rPr>
              <a:t>Split by pipeline stage, not just by module — so nothing is nobody's job.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3529584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49808" y="1600200"/>
            <a:ext cx="3163824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A78D6"/>
                </a:solidFill>
                <a:latin typeface="Calibri"/>
              </a:rPr>
              <a:t>SHARADA DOGIPARTHI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984248"/>
            <a:ext cx="3163824" cy="2578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52514E"/>
                </a:solidFill>
                <a:latin typeface="Calibri"/>
              </a:rPr>
              <a:t>Modelling and identification</a:t>
            </a:r>
          </a:p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52514E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52514E"/>
                </a:solidFill>
                <a:latin typeface="Calibri"/>
              </a:rPr>
              <a:t>Warehouse and data models</a:t>
            </a:r>
          </a:p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52514E"/>
                </a:solidFill>
                <a:latin typeface="Calibri"/>
              </a:rPr>
              <a:t>The siting and timing model</a:t>
            </a:r>
          </a:p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52514E"/>
                </a:solidFill>
                <a:latin typeface="Calibri"/>
              </a:rPr>
              <a:t>Cannibalization and the decay curve</a:t>
            </a:r>
          </a:p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52514E"/>
                </a:solidFill>
                <a:latin typeface="Calibri"/>
              </a:rPr>
              <a:t>The agent and the six checks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4791456"/>
            <a:ext cx="3163824" cy="7315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1">
                <a:solidFill>
                  <a:srgbClr val="898781"/>
                </a:solidFill>
                <a:latin typeface="Calibri"/>
              </a:rPr>
              <a:t>Owns the answer to:</a:t>
            </a:r>
          </a:p>
          <a:p>
            <a:pPr algn="l">
              <a:lnSpc>
                <a:spcPct val="120000"/>
              </a:lnSpc>
            </a:pPr>
            <a:r>
              <a:rPr sz="1150" b="0" i="1">
                <a:solidFill>
                  <a:srgbClr val="898781"/>
                </a:solidFill>
                <a:latin typeface="Calibri"/>
              </a:rPr>
              <a:t>"How do you know it's cause,</a:t>
            </a:r>
          </a:p>
          <a:p>
            <a:pPr algn="l">
              <a:lnSpc>
                <a:spcPct val="120000"/>
              </a:lnSpc>
            </a:pPr>
            <a:r>
              <a:rPr sz="1150" b="0" i="1">
                <a:solidFill>
                  <a:srgbClr val="898781"/>
                </a:solidFill>
                <a:latin typeface="Calibri"/>
              </a:rPr>
              <a:t>not coincidence?"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481328"/>
            <a:ext cx="3529584" cy="3200400"/>
          </a:xfrm>
          <a:prstGeom prst="roundRect">
            <a:avLst>
              <a:gd name="adj" fmla="val 6000"/>
            </a:avLst>
          </a:prstGeom>
          <a:solidFill>
            <a:srgbClr val="FDF0EA"/>
          </a:solidFill>
          <a:ln w="17780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498848" y="1600200"/>
            <a:ext cx="3163824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B6834"/>
                </a:solidFill>
                <a:latin typeface="Calibri"/>
              </a:rPr>
              <a:t>SRILEKHA BUDITHI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8848" y="1984248"/>
            <a:ext cx="3163824" cy="2578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52514E"/>
                </a:solidFill>
                <a:latin typeface="Calibri"/>
              </a:rPr>
              <a:t>Data and reproducibility</a:t>
            </a:r>
          </a:p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52514E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52514E"/>
                </a:solidFill>
                <a:latin typeface="Calibri"/>
              </a:rPr>
              <a:t>All eleven data sources</a:t>
            </a:r>
          </a:p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52514E"/>
                </a:solidFill>
                <a:latin typeface="Calibri"/>
              </a:rPr>
              <a:t>Drive-time tables</a:t>
            </a:r>
          </a:p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52514E"/>
                </a:solidFill>
                <a:latin typeface="Calibri"/>
              </a:rPr>
              <a:t>Automated data checks</a:t>
            </a:r>
          </a:p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52514E"/>
                </a:solidFill>
                <a:latin typeface="Calibri"/>
              </a:rPr>
              <a:t>Tests and continuous integration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848" y="4791456"/>
            <a:ext cx="3163824" cy="7315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1">
                <a:solidFill>
                  <a:srgbClr val="898781"/>
                </a:solidFill>
                <a:latin typeface="Calibri"/>
              </a:rPr>
              <a:t>Owns the answer to:</a:t>
            </a:r>
          </a:p>
          <a:p>
            <a:pPr algn="l">
              <a:lnSpc>
                <a:spcPct val="120000"/>
              </a:lnSpc>
            </a:pPr>
            <a:r>
              <a:rPr sz="1150" b="0" i="1">
                <a:solidFill>
                  <a:srgbClr val="898781"/>
                </a:solidFill>
                <a:latin typeface="Calibri"/>
              </a:rPr>
              <a:t>"Does it build from scratch,</a:t>
            </a:r>
          </a:p>
          <a:p>
            <a:pPr algn="l">
              <a:lnSpc>
                <a:spcPct val="120000"/>
              </a:lnSpc>
            </a:pPr>
            <a:r>
              <a:rPr sz="1150" b="0" i="1">
                <a:solidFill>
                  <a:srgbClr val="898781"/>
                </a:solidFill>
                <a:latin typeface="Calibri"/>
              </a:rPr>
              <a:t>in one command?"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8" y="1481328"/>
            <a:ext cx="3529584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47888" y="1600200"/>
            <a:ext cx="3163824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A78D6"/>
                </a:solidFill>
                <a:latin typeface="Calibri"/>
              </a:rPr>
              <a:t>RAKSHITHA VENIGALLA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1984248"/>
            <a:ext cx="3163824" cy="2578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52514E"/>
                </a:solidFill>
                <a:latin typeface="Calibri"/>
              </a:rPr>
              <a:t>Delivery and communication</a:t>
            </a:r>
          </a:p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52514E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52514E"/>
                </a:solidFill>
                <a:latin typeface="Calibri"/>
              </a:rPr>
              <a:t>The application, both views</a:t>
            </a:r>
          </a:p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52514E"/>
                </a:solidFill>
                <a:latin typeface="Calibri"/>
              </a:rPr>
              <a:t>Charts and the equity map</a:t>
            </a:r>
          </a:p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52514E"/>
                </a:solidFill>
                <a:latin typeface="Calibri"/>
              </a:rPr>
              <a:t>Executive deck and write-ups</a:t>
            </a:r>
          </a:p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52514E"/>
                </a:solidFill>
                <a:latin typeface="Calibri"/>
              </a:rPr>
              <a:t>The public dataset release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4791456"/>
            <a:ext cx="3163824" cy="7315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1">
                <a:solidFill>
                  <a:srgbClr val="898781"/>
                </a:solidFill>
                <a:latin typeface="Calibri"/>
              </a:rPr>
              <a:t>Owns the answer to:</a:t>
            </a:r>
          </a:p>
          <a:p>
            <a:pPr algn="l">
              <a:lnSpc>
                <a:spcPct val="120000"/>
              </a:lnSpc>
            </a:pPr>
            <a:r>
              <a:rPr sz="1150" b="0" i="1">
                <a:solidFill>
                  <a:srgbClr val="898781"/>
                </a:solidFill>
                <a:latin typeface="Calibri"/>
              </a:rPr>
              <a:t>"What decision does</a:t>
            </a:r>
          </a:p>
          <a:p>
            <a:pPr algn="l">
              <a:lnSpc>
                <a:spcPct val="120000"/>
              </a:lnSpc>
            </a:pPr>
            <a:r>
              <a:rPr sz="1150" b="0" i="1">
                <a:solidFill>
                  <a:srgbClr val="898781"/>
                </a:solidFill>
                <a:latin typeface="Calibri"/>
              </a:rPr>
              <a:t>someone actually make?"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Calibri"/>
              </a:rPr>
              <a:t>Siting Atlas  |  Volume I: Last-Mile Delivery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82296" cy="42062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1088136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0B0B"/>
                </a:solidFill>
                <a:latin typeface="Calibri"/>
              </a:rPr>
              <a:t>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32688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52514E"/>
                </a:solidFill>
                <a:latin typeface="Calibri"/>
              </a:rPr>
              <a:t>One number, inside the cap. Compute is free; the only cost is AI usage.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3529584" cy="1554480"/>
          </a:xfrm>
          <a:prstGeom prst="roundRect">
            <a:avLst>
              <a:gd name="adj" fmla="val 8000"/>
            </a:avLst>
          </a:prstGeom>
          <a:solidFill>
            <a:srgbClr val="EAF7EA"/>
          </a:solidFill>
          <a:ln w="16510">
            <a:solidFill>
              <a:srgbClr val="0CA3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627632"/>
            <a:ext cx="3529584" cy="56692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0CA30C"/>
                </a:solidFill>
                <a:latin typeface="Calibri"/>
              </a:rPr>
              <a:t>$80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249424"/>
            <a:ext cx="3529584" cy="7315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0" i="0">
                <a:solidFill>
                  <a:srgbClr val="52514E"/>
                </a:solidFill>
                <a:latin typeface="Calibri"/>
              </a:rPr>
              <a:t>estimated total spend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5968" y="1481328"/>
            <a:ext cx="3529584" cy="1554480"/>
          </a:xfrm>
          <a:prstGeom prst="roundRect">
            <a:avLst>
              <a:gd name="adj" fmla="val 8000"/>
            </a:avLst>
          </a:prstGeom>
          <a:solidFill>
            <a:srgbClr val="F9F9F7"/>
          </a:solidFill>
          <a:ln w="1651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315968" y="1627632"/>
            <a:ext cx="3529584" cy="56692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2A78D6"/>
                </a:solidFill>
                <a:latin typeface="Calibri"/>
              </a:rPr>
              <a:t>$100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5968" y="2249424"/>
            <a:ext cx="3529584" cy="7315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0" i="0">
                <a:solidFill>
                  <a:srgbClr val="52514E"/>
                </a:solidFill>
                <a:latin typeface="Calibri"/>
              </a:rPr>
              <a:t>hard cap from the course rubric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5008" y="1481328"/>
            <a:ext cx="3529584" cy="1554480"/>
          </a:xfrm>
          <a:prstGeom prst="roundRect">
            <a:avLst>
              <a:gd name="adj" fmla="val 8000"/>
            </a:avLst>
          </a:prstGeom>
          <a:solidFill>
            <a:srgbClr val="EAF7EA"/>
          </a:solidFill>
          <a:ln w="16510">
            <a:solidFill>
              <a:srgbClr val="0CA3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065008" y="1627632"/>
            <a:ext cx="3529584" cy="56692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0CA30C"/>
                </a:solidFill>
                <a:latin typeface="Calibri"/>
              </a:rPr>
              <a:t>$0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2249424"/>
            <a:ext cx="3529584" cy="7315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0" i="0">
                <a:solidFill>
                  <a:srgbClr val="52514E"/>
                </a:solidFill>
                <a:latin typeface="Calibri"/>
              </a:rPr>
              <a:t>compute, hosting, storage and data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66928" y="3310128"/>
          <a:ext cx="110642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7760"/>
                <a:gridCol w="1371600"/>
                <a:gridCol w="4754880"/>
              </a:tblGrid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0B0B0B"/>
                          </a:solidFill>
                          <a:latin typeface="Calibri"/>
                        </a:rPr>
                        <a:t>Line item</a:t>
                      </a:r>
                    </a:p>
                  </a:txBody>
                  <a:tcPr anchor="ctr" marL="82296" marR="82296" marT="27432" marB="27432"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0B0B0B"/>
                          </a:solidFill>
                          <a:latin typeface="Calibri"/>
                        </a:rPr>
                        <a:t>Cost</a:t>
                      </a:r>
                    </a:p>
                  </a:txBody>
                  <a:tcPr anchor="ctr" marL="82296" marR="82296" marT="27432" marB="27432"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0B0B0B"/>
                          </a:solidFill>
                          <a:latin typeface="Calibri"/>
                        </a:rPr>
                        <a:t>How it is controlled</a:t>
                      </a:r>
                    </a:p>
                  </a:txBody>
                  <a:tcPr anchor="ctr" marL="82296" marR="82296" marT="27432" marB="27432">
                    <a:solidFill>
                      <a:srgbClr val="EAF2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52514E"/>
                          </a:solidFill>
                          <a:latin typeface="Calibri"/>
                        </a:rPr>
                        <a:t>AI usage — reading news, agent tools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52514E"/>
                          </a:solidFill>
                          <a:latin typeface="Calibri"/>
                        </a:rPr>
                        <a:t>$55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52514E"/>
                          </a:solidFill>
                          <a:latin typeface="Calibri"/>
                        </a:rPr>
                        <a:t>Responses cached; a hard stop fires at $80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52514E"/>
                          </a:solidFill>
                          <a:latin typeface="Calibri"/>
                        </a:rPr>
                        <a:t>Contingency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52514E"/>
                          </a:solidFill>
                          <a:latin typeface="Calibri"/>
                        </a:rPr>
                        <a:t>$25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52514E"/>
                          </a:solidFill>
                          <a:latin typeface="Calibri"/>
                        </a:rPr>
                        <a:t>Only released by an explicit decision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52514E"/>
                          </a:solidFill>
                          <a:latin typeface="Calibri"/>
                        </a:rPr>
                        <a:t>Storage, hosting, database, pipeline, CI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52514E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52514E"/>
                          </a:solidFill>
                          <a:latin typeface="Calibri"/>
                        </a:rPr>
                        <a:t>Free tiers and open-source tools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52514E"/>
                          </a:solidFill>
                          <a:latin typeface="Calibri"/>
                        </a:rPr>
                        <a:t>All eleven data sources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52514E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52514E"/>
                          </a:solidFill>
                          <a:latin typeface="Calibri"/>
                        </a:rPr>
                        <a:t>Public — no paid API, no key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566928" y="5468112"/>
            <a:ext cx="11057839" cy="786384"/>
          </a:xfrm>
          <a:prstGeom prst="roundRect">
            <a:avLst>
              <a:gd name="adj" fmla="val 14000"/>
            </a:avLst>
          </a:prstGeom>
          <a:solidFill>
            <a:srgbClr val="EAF2FC"/>
          </a:solidFill>
          <a:ln w="1905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49808" y="5577840"/>
            <a:ext cx="10692079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2A78D6"/>
                </a:solidFill>
                <a:latin typeface="Calibri"/>
              </a:rPr>
              <a:t>Two components a reader might expect — a fine-tuned writing model and a multi-model comparison — are out of scope. Neither answers any question that matters here.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Calibri"/>
              </a:rPr>
              <a:t>Siting Atlas  |  Volume I: Last-Mile Delivery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82296" cy="42062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1088136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0B0B"/>
                </a:solidFill>
                <a:latin typeface="Calibri"/>
              </a:rPr>
              <a:t>What we would like from you today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170432"/>
            <a:ext cx="5486400" cy="2651760"/>
          </a:xfrm>
          <a:prstGeom prst="roundRect">
            <a:avLst>
              <a:gd name="adj" fmla="val 6000"/>
            </a:avLst>
          </a:prstGeom>
          <a:solidFill>
            <a:srgbClr val="FDF0EA"/>
          </a:solidFill>
          <a:ln w="17780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49808" y="1289304"/>
            <a:ext cx="512064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B6834"/>
                </a:solidFill>
                <a:latin typeface="Calibri"/>
              </a:rPr>
              <a:t>SIX DECISIONS WE NEED SIGNED 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673352"/>
            <a:ext cx="5120640" cy="20299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52514E"/>
                </a:solidFill>
                <a:latin typeface="Calibri"/>
              </a:rPr>
              <a:t>1.  Predict service enablement, not order volume</a:t>
            </a:r>
          </a:p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52514E"/>
                </a:solidFill>
                <a:latin typeface="Calibri"/>
              </a:rPr>
              <a:t>2.  Precompute drive times, then delete the engine</a:t>
            </a:r>
          </a:p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52514E"/>
                </a:solidFill>
                <a:latin typeface="Calibri"/>
              </a:rPr>
              <a:t>3.  Use Census business counts, not a paid directory</a:t>
            </a:r>
          </a:p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52514E"/>
                </a:solidFill>
                <a:latin typeface="Calibri"/>
              </a:rPr>
              <a:t>4.  Keep the fine-tuned writer and model comparison</a:t>
            </a:r>
          </a:p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52514E"/>
                </a:solidFill>
                <a:latin typeface="Calibri"/>
              </a:rPr>
              <a:t>     out of scope</a:t>
            </a:r>
          </a:p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52514E"/>
                </a:solidFill>
                <a:latin typeface="Calibri"/>
              </a:rPr>
              <a:t>5.  Four claims, not seven</a:t>
            </a:r>
          </a:p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52514E"/>
                </a:solidFill>
                <a:latin typeface="Calibri"/>
              </a:rPr>
              <a:t>6.  Budget of $80, inside the $100 cap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7648" y="1170432"/>
            <a:ext cx="5486400" cy="2651760"/>
          </a:xfrm>
          <a:prstGeom prst="roundRect">
            <a:avLst>
              <a:gd name="adj" fmla="val 6000"/>
            </a:avLst>
          </a:prstGeom>
          <a:solidFill>
            <a:srgbClr val="EAF7EA"/>
          </a:solidFill>
          <a:ln w="17780">
            <a:solidFill>
              <a:srgbClr val="0CA3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510528" y="1289304"/>
            <a:ext cx="512064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CA30C"/>
                </a:solidFill>
                <a:latin typeface="Calibri"/>
              </a:rPr>
              <a:t>WHAT WE WILL BRING BACK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0528" y="1673352"/>
            <a:ext cx="5120640" cy="20299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52514E"/>
                </a:solidFill>
                <a:latin typeface="Calibri"/>
              </a:rPr>
              <a:t>A real accuracy number from a real forecast —</a:t>
            </a:r>
          </a:p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52514E"/>
                </a:solidFill>
                <a:latin typeface="Calibri"/>
              </a:rPr>
              <a:t>trained on data through 2023, scored against</a:t>
            </a:r>
          </a:p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52514E"/>
                </a:solidFill>
                <a:latin typeface="Calibri"/>
              </a:rPr>
              <a:t>what actually happened in 2024–25.</a:t>
            </a:r>
          </a:p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52514E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52514E"/>
                </a:solidFill>
                <a:latin typeface="Calibri"/>
              </a:rPr>
              <a:t>A public dataset nobody else has published.</a:t>
            </a:r>
          </a:p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52514E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52514E"/>
                </a:solidFill>
                <a:latin typeface="Calibri"/>
              </a:rPr>
              <a:t>A working tool a city council could open.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434840"/>
            <a:ext cx="11057839" cy="786384"/>
          </a:xfrm>
          <a:prstGeom prst="roundRect">
            <a:avLst>
              <a:gd name="adj" fmla="val 14000"/>
            </a:avLst>
          </a:prstGeom>
          <a:solidFill>
            <a:srgbClr val="EAF2FC"/>
          </a:solidFill>
          <a:ln w="1905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49808" y="4544568"/>
            <a:ext cx="10692079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2A78D6"/>
                </a:solidFill>
                <a:latin typeface="Calibri"/>
              </a:rPr>
              <a:t>Proprietary data produces conclusions nobody can check. For a decision communities have standing to contest, checkability IS the product.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486400"/>
            <a:ext cx="1106424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0B0B0B"/>
                </a:solidFill>
                <a:latin typeface="Calibri"/>
              </a:rPr>
              <a:t>Thank you — questions welcome.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Calibri"/>
              </a:rPr>
              <a:t>Siting Atlas  |  Volume I: Last-Mile Delivery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