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"This is the technical companion. I'll assume potential outcomes,</a:t>
            </a:r>
          </a:p>
          <a:p>
            <a:r>
              <a:t>       panel methods and synthetic control."</a:t>
            </a:r>
          </a:p>
          <a:p>
            <a:r>
              <a:t>LAND   Set expectations: this deck defends identification, not the story.</a:t>
            </a:r>
          </a:p>
          <a:p>
            <a:r>
              <a:t>TIMING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"Four claims, and I want to be precise about what each excludes."</a:t>
            </a:r>
          </a:p>
          <a:p>
            <a:r>
              <a:t>LAND   The 'Bounded by' column is the point. Each claim is fenced by the</a:t>
            </a:r>
          </a:p>
          <a:p>
            <a:r>
              <a:t>       prior art that would otherwise falsify it.</a:t>
            </a:r>
          </a:p>
          <a:p>
            <a:r>
              <a:t>IF ASKED  "Why is C2 only a parameter claim?" - because the estimator is</a:t>
            </a:r>
          </a:p>
          <a:p>
            <a:r>
              <a:t>       Pollmann's. Claiming the method would be false.</a:t>
            </a:r>
          </a:p>
          <a:p>
            <a:r>
              <a:t>TIMING 2.5 minutes. Do not rush - this slide is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"Two prior-art reviews - literature and shipped product."</a:t>
            </a:r>
          </a:p>
          <a:p>
            <a:r>
              <a:t>LAND   Left column is closed, right column is open. We report both.</a:t>
            </a:r>
          </a:p>
          <a:p>
            <a:r>
              <a:t>IF ASKED  "Did you find these before or after writing the claims?" - after</a:t>
            </a:r>
          </a:p>
          <a:p>
            <a:r>
              <a:t>       writing, before submitting. Three claims did not survive.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"Four questions. RQ2 is pre-registered."</a:t>
            </a:r>
          </a:p>
          <a:p>
            <a:r>
              <a:t>LAND   RQ2's note. Fixing the prediction in advance is what makes a null</a:t>
            </a:r>
          </a:p>
          <a:p>
            <a:r>
              <a:t>       result a finding rather than a rationalisation.</a:t>
            </a:r>
          </a:p>
          <a:p>
            <a:r>
              <a:t>IF ASKED  "Is RQ4 a research question or a descriptive statistic?" - it is</a:t>
            </a:r>
          </a:p>
          <a:p>
            <a:r>
              <a:t>       descriptive and unreported. Both can be true.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"Notation, briefly, so the rest is unambiguous."</a:t>
            </a:r>
          </a:p>
          <a:p>
            <a:r>
              <a:t>LAND   Two estimands: hazard of first enablement is primary; theta is</a:t>
            </a:r>
          </a:p>
          <a:p>
            <a:r>
              <a:t>       secondary. Point at the right-censoring in E_i.</a:t>
            </a:r>
          </a:p>
          <a:p>
            <a:r>
              <a:t>TIMING 1.5 minutes. Do not read the whole block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"Why enablement rather than volume. This is an identification</a:t>
            </a:r>
          </a:p>
          <a:p>
            <a:r>
              <a:t>       argument, not a data-availability excuse."</a:t>
            </a:r>
          </a:p>
          <a:p>
            <a:r>
              <a:t>LAND   The left panel. R-squared is bounded below by the approximation error</a:t>
            </a:r>
          </a:p>
          <a:p>
            <a:r>
              <a:t>       of f to g. It tells you nothing about the phenomenon.</a:t>
            </a:r>
          </a:p>
          <a:p>
            <a:r>
              <a:t>IF ASKED  "Couldn't you validate the allocation externally?" - only in</a:t>
            </a:r>
          </a:p>
          <a:p>
            <a:r>
              <a:t>       aggregate, which does not identify the cross-sectional split, which</a:t>
            </a:r>
          </a:p>
          <a:p>
            <a:r>
              <a:t>       is exactly what the model is being asked to produce.</a:t>
            </a:r>
          </a:p>
          <a:p>
            <a:r>
              <a:t>TIMING 3 minutes. The strongest methodological slide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"The siting model."</a:t>
            </a:r>
          </a:p>
          <a:p>
            <a:r>
              <a:t>LAND   Cloglog is the grouped-duration analogue of proportional hazards, so</a:t>
            </a:r>
          </a:p>
          <a:p>
            <a:r>
              <a:t>       the interval width we chose does not drive the specification.</a:t>
            </a:r>
          </a:p>
          <a:p>
            <a:r>
              <a:t>IF ASKED  "Why not Cox?" - the data are grouped into quarters, ties are</a:t>
            </a:r>
          </a:p>
          <a:p>
            <a:r>
              <a:t>       pervasive, and discrete time handles that natively.</a:t>
            </a:r>
          </a:p>
          <a:p>
            <a:r>
              <a:t>IF ASKED  "Random effects or fixed?" - random, because many metros have few</a:t>
            </a:r>
          </a:p>
          <a:p>
            <a:r>
              <a:t>       events and we want partial pooling. Say we report both.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"Selection. Treatment assignment is endogenous by construction."</a:t>
            </a:r>
          </a:p>
          <a:p>
            <a:r>
              <a:t>LAND   Do NOT defend the instrument. Say the exclusion restriction is</a:t>
            </a:r>
          </a:p>
          <a:p>
            <a:r>
              <a:t>       contestable, then show the sensitivity path.</a:t>
            </a:r>
          </a:p>
          <a:p>
            <a:r>
              <a:t>       'Survival under a plausible violation is worth more than a claim of</a:t>
            </a:r>
          </a:p>
          <a:p>
            <a:r>
              <a:t>       no violation.'</a:t>
            </a:r>
          </a:p>
          <a:p>
            <a:r>
              <a:t>IF ASKED  "Your instrument is weak / invalid" - agree that it is</a:t>
            </a:r>
          </a:p>
          <a:p>
            <a:r>
              <a:t>       contestable, give the correlation with employment density yourself,</a:t>
            </a:r>
          </a:p>
          <a:p>
            <a:r>
              <a:t>       and go to the sign-flip point.</a:t>
            </a:r>
          </a:p>
          <a:p>
            <a:r>
              <a:t>TIMING 3 minutes. Expect the hardest question of the session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"Every assumption, labelled testable, partially testable or not."</a:t>
            </a:r>
          </a:p>
          <a:p>
            <a:r>
              <a:t>LAND   Three rows say 'known violated'. That is deliberate - we handle them</a:t>
            </a:r>
          </a:p>
          <a:p>
            <a:r>
              <a:t>       rather than assume them away.</a:t>
            </a:r>
          </a:p>
          <a:p>
            <a:r>
              <a:t>IF ASKED  "SUTVA is violated and you still use SCM?" - yes, and we estimate</a:t>
            </a:r>
          </a:p>
          <a:p>
            <a:r>
              <a:t>       the violation rather than assume it away. Next slides.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"Synthetic control, with one modification."</a:t>
            </a:r>
          </a:p>
          <a:p>
            <a:r>
              <a:t>LAND   The donor pool line. Contamination defined by estimated rho-hat, not</a:t>
            </a:r>
          </a:p>
          <a:p>
            <a:r>
              <a:t>       by contiguity - that is what keeps the pool non-empty in saturated</a:t>
            </a:r>
          </a:p>
          <a:p>
            <a:r>
              <a:t>       metros.</a:t>
            </a:r>
          </a:p>
          <a:p>
            <a:r>
              <a:t>IF ASKED  "How many donors survive?" - we report pool size and weight</a:t>
            </a:r>
          </a:p>
          <a:p>
            <a:r>
              <a:t>       concentration per estimate, and 'not estimable' where it collapses.</a:t>
            </a:r>
          </a:p>
          <a:p>
            <a:r>
              <a:t>TIMING 2.5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"Inference. With one treated unit an asymptotic standard error is not</a:t>
            </a:r>
          </a:p>
          <a:p>
            <a:r>
              <a:t>       credible."</a:t>
            </a:r>
          </a:p>
          <a:p>
            <a:r>
              <a:t>LAND   The null is built from the data. Then the RMSPE ratio and why the</a:t>
            </a:r>
          </a:p>
          <a:p>
            <a:r>
              <a:t>       denominator matters.</a:t>
            </a:r>
          </a:p>
          <a:p>
            <a:r>
              <a:t>IF ASKED  "Isn't the permutation p-value coarse with a small donor pool?" -</a:t>
            </a:r>
          </a:p>
          <a:p>
            <a:r>
              <a:t>       yes, and we report the pool size alongside it. With 40 donors the</a:t>
            </a:r>
          </a:p>
          <a:p>
            <a:r>
              <a:t>       finest attainable p is 1/41.</a:t>
            </a:r>
          </a:p>
          <a:p>
            <a:r>
              <a:t>TIMING 2.5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"The spillover kernel, estimated rather than assumed."</a:t>
            </a:r>
          </a:p>
          <a:p>
            <a:r>
              <a:t>LAND   Credit Pollmann explicitly and immediately. The parameter is the</a:t>
            </a:r>
          </a:p>
          <a:p>
            <a:r>
              <a:t>       contribution.</a:t>
            </a:r>
          </a:p>
          <a:p>
            <a:r>
              <a:t>IF ASKED  "Why bands rather than a smooth kernel?" - bands are</a:t>
            </a:r>
          </a:p>
          <a:p>
            <a:r>
              <a:t>       non-parametric in the decay shape. A smooth kernel imposes one.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"And then W is built from the estimate."</a:t>
            </a:r>
          </a:p>
          <a:p>
            <a:r>
              <a:t>LAND   The right-hand panel first, not the left. Say what we do NOT claim</a:t>
            </a:r>
          </a:p>
          <a:p>
            <a:r>
              <a:t>       before saying what we do.</a:t>
            </a:r>
          </a:p>
          <a:p>
            <a:r>
              <a:t>IF ASKED  "Souza and Krisztin already estimate W" - correct, and that is on</a:t>
            </a:r>
          </a:p>
          <a:p>
            <a:r>
              <a:t>       the slide. Our difference is the update CHANNEL: exogenous text</a:t>
            </a:r>
          </a:p>
          <a:p>
            <a:r>
              <a:t>       between cycles, not in-sample fitting once.</a:t>
            </a:r>
          </a:p>
          <a:p>
            <a:r>
              <a:t>TIMING 2.5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"RQ2, pre-registered."</a:t>
            </a:r>
          </a:p>
          <a:p>
            <a:r>
              <a:t>LAND   Both branches are publishable, and kappa is fixed in advance.</a:t>
            </a:r>
          </a:p>
          <a:p>
            <a:r>
              <a:t>IF ASKED  "How did you choose kappa?" - from the decision, not the data:</a:t>
            </a:r>
          </a:p>
          <a:p>
            <a:r>
              <a:t>       the change in theta that would move a ZIP across the top-100</a:t>
            </a:r>
          </a:p>
          <a:p>
            <a:r>
              <a:t>       boundary. Have a number ready.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"A quieter problem: generated regressors."</a:t>
            </a:r>
          </a:p>
          <a:p>
            <a:r>
              <a:t>LAND   Almost nobody in the agent literature corrects for this. It is not</a:t>
            </a:r>
          </a:p>
          <a:p>
            <a:r>
              <a:t>       novel, it is correct, and it costs a day because the labelled sample</a:t>
            </a:r>
          </a:p>
          <a:p>
            <a:r>
              <a:t>       already exists.</a:t>
            </a:r>
          </a:p>
          <a:p>
            <a:r>
              <a:t>IF ASKED  "How large is the correction?" - unknown until we run it, which is</a:t>
            </a:r>
          </a:p>
          <a:p>
            <a:r>
              <a:t>       precisely why we run it.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"Uncertainty."</a:t>
            </a:r>
          </a:p>
          <a:p>
            <a:r>
              <a:t>LAND   The guarantee holds for ANY underlying model. Then the caveat slide</a:t>
            </a:r>
          </a:p>
          <a:p>
            <a:r>
              <a:t>       tile: exchangeability fails under drift, so we report coverage by</a:t>
            </a:r>
          </a:p>
          <a:p>
            <a:r>
              <a:t>       year.</a:t>
            </a:r>
          </a:p>
          <a:p>
            <a:r>
              <a:t>IF ASKED  "Doesn't the out-of-time split break exchangeability?" - yes, and</a:t>
            </a:r>
          </a:p>
          <a:p>
            <a:r>
              <a:t>       that is why we report coverage by year rather than pooled. Good</a:t>
            </a:r>
          </a:p>
          <a:p>
            <a:r>
              <a:t>       question to concede.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"The evaluation protocol, fixed before estimation."</a:t>
            </a:r>
          </a:p>
          <a:p>
            <a:r>
              <a:t>LAND   The last two rows - label noise and H3 - exist because the first</a:t>
            </a:r>
          </a:p>
          <a:p>
            <a:r>
              <a:t>       seven could all be artefacts.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"And here is what those targets actually produced."</a:t>
            </a:r>
          </a:p>
          <a:p>
            <a:r>
              <a:t>LAND   Every target on the previous slide was missed. The proper score is</a:t>
            </a:r>
          </a:p>
          <a:p>
            <a:r>
              <a:t>       the row to read: the model's Brier is essentially the constant's on</a:t>
            </a:r>
          </a:p>
          <a:p>
            <a:r>
              <a:t>       the unit-clustered split and WORSE than the constant's on the</a:t>
            </a:r>
          </a:p>
          <a:p>
            <a:r>
              <a:t>       temporal one. Calibration is worse than a constant outright.</a:t>
            </a:r>
          </a:p>
          <a:p>
            <a:r>
              <a:t>IF ASKED  "Random splits would have looked better" - yes, and that is the</a:t>
            </a:r>
          </a:p>
          <a:p>
            <a:r>
              <a:t>       point. Whole units are held out because a random row split lets the</a:t>
            </a:r>
          </a:p>
          <a:p>
            <a:r>
              <a:t>       model see 2025 rows for a ZIP while predicting its 2024 rows.</a:t>
            </a:r>
          </a:p>
          <a:p>
            <a:r>
              <a:t>IF ASKED  "Where is the geographic hold-out?" - deliberately absent. The two</a:t>
            </a:r>
          </a:p>
          <a:p>
            <a:r>
              <a:t>       withheld metros hold two dated stations between them. It is a smoke</a:t>
            </a:r>
          </a:p>
          <a:p>
            <a:r>
              <a:t>       test for gross failure, not a test of transfer, and quoting it as</a:t>
            </a:r>
          </a:p>
          <a:p>
            <a:r>
              <a:t>       one would overstate the evidence against our own model.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"Each robustness check targets one specific way the result could be</a:t>
            </a:r>
          </a:p>
          <a:p>
            <a:r>
              <a:t>       an artefact."</a:t>
            </a:r>
          </a:p>
          <a:p>
            <a:r>
              <a:t>LAND   Read the third column, not the second. 'Failure would mean' is what</a:t>
            </a:r>
          </a:p>
          <a:p>
            <a:r>
              <a:t>       makes each check meaningful.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"Cost. Continuous approximation, and one engineering consequence."</a:t>
            </a:r>
          </a:p>
          <a:p>
            <a:r>
              <a:t>LAND   d_stem is a finite set, so routing is an offline job. Peak disk 8 GB</a:t>
            </a:r>
          </a:p>
          <a:p>
            <a:r>
              <a:t>       rather than 60, and no runtime dependency.</a:t>
            </a:r>
          </a:p>
          <a:p>
            <a:r>
              <a:t>IF ASKED  "Doesn't circuity lose road topology?" - yes, and Daganzo is</a:t>
            </a:r>
          </a:p>
          <a:p>
            <a:r>
              <a:t>       already an approximation. We calibrate k and report the residual.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"NPV without an observable margin."</a:t>
            </a:r>
          </a:p>
          <a:p>
            <a:r>
              <a:t>LAND   Ranking is invariant to a common positive scale factor. Six of eight</a:t>
            </a:r>
          </a:p>
          <a:p>
            <a:r>
              <a:t>       outputs are unaffected. Then immediately the failure case: if m</a:t>
            </a:r>
          </a:p>
          <a:p>
            <a:r>
              <a:t>       varies systematically the ranking moves.</a:t>
            </a:r>
          </a:p>
          <a:p>
            <a:r>
              <a:t>IF ASKED  "So you can't say what a ZIP is worth?" - correct, and we say so.</a:t>
            </a:r>
          </a:p>
          <a:p>
            <a:r>
              <a:t>       We give a_i, b_i and the break-even m.</a:t>
            </a:r>
          </a:p>
          <a:p>
            <a:r>
              <a:t>TIMING 2.5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"The decision layer."</a:t>
            </a:r>
          </a:p>
          <a:p>
            <a:r>
              <a:t>LAND   Neither submodular nor supermodular, so the greedy bound does not</a:t>
            </a:r>
          </a:p>
          <a:p>
            <a:r>
              <a:t>       apply and the gap is empirical.</a:t>
            </a:r>
          </a:p>
          <a:p>
            <a:r>
              <a:t>IF ASKED  "Is this a contribution?" - no, and it is on the slide. Textbook</a:t>
            </a:r>
          </a:p>
          <a:p>
            <a:r>
              <a:t>       OR and a mature commercial category. We include it because ranking is</a:t>
            </a:r>
          </a:p>
          <a:p>
            <a:r>
              <a:t>       the wrong model.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"Now the definition that carries claim C1."</a:t>
            </a:r>
          </a:p>
          <a:p>
            <a:r>
              <a:t>LAND   Read the CLAIM line aloud. There exist M with data integrity 1 and</a:t>
            </a:r>
          </a:p>
          <a:p>
            <a:r>
              <a:t>       inferential integrity 0, and no published gate detects them.</a:t>
            </a:r>
          </a:p>
          <a:p>
            <a:r>
              <a:t>IF ASKED  "Is that not just a stale-cache problem?" - no. The state is</a:t>
            </a:r>
          </a:p>
          <a:p>
            <a:r>
              <a:t>       correct and current. It is the ESTIMATOR's assumptions that break.</a:t>
            </a:r>
          </a:p>
          <a:p>
            <a:r>
              <a:t>TIMING 3 minutes. This is the slide the workshop paper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"Drawn, with the boundary marked."</a:t>
            </a:r>
          </a:p>
          <a:p>
            <a:r>
              <a:t>LAND   Point at where data integrity ends and identification begins.</a:t>
            </a:r>
          </a:p>
          <a:p>
            <a:r>
              <a:t>TIMING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"Agent evaluation, positioned against a public benchmark."</a:t>
            </a:r>
          </a:p>
          <a:p>
            <a:r>
              <a:t>LAND   The Wilson interval. At n=40 a pass and a fail are indistinguishable.</a:t>
            </a:r>
          </a:p>
          <a:p>
            <a:r>
              <a:t>       Then the MDE for the deferred comparison.</a:t>
            </a:r>
          </a:p>
          <a:p>
            <a:r>
              <a:t>IF ASKED  "Why defer the model comparison entirely?" - because at the sample</a:t>
            </a:r>
          </a:p>
          <a:p>
            <a:r>
              <a:t>       size we can afford, an 8-point difference is the smallest detectable,</a:t>
            </a:r>
          </a:p>
          <a:p>
            <a:r>
              <a:t>       and the plausible spread is smaller than that.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"Threats to validity, by type."</a:t>
            </a:r>
          </a:p>
          <a:p>
            <a:r>
              <a:t>LAND   Do not read the table. Pick the two you think this room cares about</a:t>
            </a:r>
          </a:p>
          <a:p>
            <a:r>
              <a:t>       and speak to those.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"And what we cannot identify at all."</a:t>
            </a:r>
          </a:p>
          <a:p>
            <a:r>
              <a:t>LAND   Four items, no mitigation. Say clearly: this is the reason to believe</a:t>
            </a:r>
          </a:p>
          <a:p>
            <a:r>
              <a:t>       everything on the previous twenty-five slides.</a:t>
            </a:r>
          </a:p>
          <a:p>
            <a:r>
              <a:t>IF ASKED  "What is the weakest part?" - the cannibalization coefficient.</a:t>
            </a:r>
          </a:p>
          <a:p>
            <a:r>
              <a:t>       Say it before they do.</a:t>
            </a:r>
          </a:p>
          <a:p>
            <a:r>
              <a:t>TIMING 2 minutes. Do not apologise while delivering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"Named extensions - directions, not commitments."</a:t>
            </a:r>
          </a:p>
          <a:p>
            <a:r>
              <a:t>LAND   The 'why not now' column. Each is a scoping decision with a reason.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"Reproducibility, since the whole argument rests on checkability."</a:t>
            </a:r>
          </a:p>
          <a:p>
            <a:r>
              <a:t>LAND   dim_scenario. A system whose parameters change in response to text is</a:t>
            </a:r>
          </a:p>
          <a:p>
            <a:r>
              <a:t>       not auditable by default; this is what makes it so.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"To summarise: what we claim, and what we explicitly do not."</a:t>
            </a:r>
          </a:p>
          <a:p>
            <a:r>
              <a:t>LAND   Read the right-hand panel slowly. Volunteering the second list is</a:t>
            </a:r>
          </a:p>
          <a:p>
            <a:r>
              <a:t>       what makes the first credible.</a:t>
            </a:r>
          </a:p>
          <a:p>
            <a:r>
              <a:t>THEN   Read the banner. Then stop.</a:t>
            </a:r>
          </a:p>
          <a:p>
            <a:r>
              <a:t>TIMING 1.5 minutes,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09728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2A78D6"/>
                </a:solidFill>
                <a:latin typeface="Calibri"/>
              </a:rPr>
              <a:t>SITING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29968"/>
            <a:ext cx="10972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B6834"/>
                </a:solidFill>
                <a:latin typeface="Calibri"/>
              </a:rPr>
              <a:t>TECHNICAL SUPPLEMENT  ·  identification, estimation,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0"/>
            <a:ext cx="1060704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2000" b="1" i="0">
                <a:solidFill>
                  <a:srgbClr val="0B0B0B"/>
                </a:solidFill>
                <a:latin typeface="Calibri"/>
              </a:rPr>
              <a:t>Agent-Assisted Spatial Causal Inference for Sub-24-Hour Delivery</a:t>
            </a:r>
          </a:p>
          <a:p>
            <a:pPr algn="l">
              <a:lnSpc>
                <a:spcPct val="124000"/>
              </a:lnSpc>
            </a:pPr>
            <a:r>
              <a:rPr sz="2000" b="1" i="0">
                <a:solidFill>
                  <a:srgbClr val="0B0B0B"/>
                </a:solidFill>
                <a:latin typeface="Calibri"/>
              </a:rPr>
              <a:t>Territory Expansion under Cannibalization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86200"/>
            <a:ext cx="106070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52514E"/>
                </a:solidFill>
                <a:latin typeface="Calibri"/>
              </a:rPr>
              <a:t>Companion to the overview deck. Assumes familiarity with potential outcomes,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52514E"/>
                </a:solidFill>
                <a:latin typeface="Calibri"/>
              </a:rPr>
              <a:t>panel methods and synthetic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92040"/>
            <a:ext cx="640080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Sharada Dogiparthi   ·   Srilekha Budithi   ·   Rakshitha Venigalla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MS Business Analytics, CSU East Bay   ·   Surendra Sarnikar, Ph.D.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98781"/>
                </a:solidFill>
                <a:latin typeface="Calibri"/>
              </a:rPr>
              <a:t>Not affiliated with any operator analysed. Operator names are used descriptively.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Contribution, stated precisely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Four claims, each bounded so that neither a published paper nor a product datasheet falsifies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2650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480560"/>
                <a:gridCol w="4206240"/>
                <a:gridCol w="196596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Bounded by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81742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Inferential integrity as a distinct failure mode for state-mutating agents: a write satisfying schema, geocoding, confidence and audit gates may still violate a downstream identification assumption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Not a claim to novelty in gating writes (arXiv:2608.14590; 2511.06778; 2211.15363)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Novel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Distance-decay parameter of same-day cannibalization, used to construct W endogenously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Estimator is Pollmann (arXiv:2011.00373). Parameter is the contribution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Novel parameter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Public-data explainability ceiling for firm siting; cross-operator transferability of the fitted preference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Descriptive, but unreported in the literature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Novel measurement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Open, re-runnable artifact: panel, harness and estimates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All techniques have licensed commercial equivalents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278476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FBEAEA"/>
          </a:solidFill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4388204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Calibri"/>
              </a:rPr>
              <a:t>Withdrawn after prior-art review: novelty in gated writes; novelty in relaxing fixed-W; any latency comparison against an operator's governance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Prior art: what is closed and what remains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Two reviews — published literature and shipped commercial product. Both reported.</a:t>
            </a:r>
          </a:p>
        </p:txBody>
      </p:sp>
      <p:pic>
        <p:nvPicPr>
          <p:cNvPr id="5" name="Picture 4" descr="fig10_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877" y="1536192"/>
            <a:ext cx="8993940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11057839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1298448"/>
            <a:ext cx="7315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Calibri"/>
              </a:rP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1280160"/>
            <a:ext cx="1005840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0B0B"/>
                </a:solidFill>
                <a:latin typeface="Calibri"/>
              </a:rPr>
              <a:t>Can a discrete-time hazard over public ZCTA covariates recover the operator's siting and timing decision at out-of-time AUC ≥ 0.80 on metros withheld from training?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792224"/>
            <a:ext cx="100584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98781"/>
                </a:solidFill>
                <a:latin typeface="Calibri"/>
              </a:rPr>
              <a:t>Falsifiable. Pre-registered target; failure reported, no retraining on the validation 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59152"/>
            <a:ext cx="11057839" cy="1078992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487168"/>
            <a:ext cx="7315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6834"/>
                </a:solidFill>
                <a:latin typeface="Calibri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468880"/>
            <a:ext cx="1005840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0B0B"/>
                </a:solidFill>
                <a:latin typeface="Calibri"/>
              </a:rPr>
              <a:t>Does event-driven revision of the spatial weight matrix materially change the estimated cannibalization coefficient, or are estimates robust to revision as LeSage and Pace (2014) argue?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2980944"/>
            <a:ext cx="100584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6" b="0" i="1">
                <a:solidFill>
                  <a:srgbClr val="898781"/>
                </a:solidFill>
                <a:latin typeface="Calibri"/>
              </a:rPr>
              <a:t>Pre-registered before estimation. Publishable under either outcome — a moved coefficient challenges a robustness claim; an unmoved one confirms it under a novel perturbation.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47872"/>
            <a:ext cx="11057839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3675888"/>
            <a:ext cx="7315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Calibri"/>
              </a:rP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3657600"/>
            <a:ext cx="1005840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0B0B"/>
                </a:solidFill>
                <a:latin typeface="Calibri"/>
              </a:rPr>
              <a:t>Can validation gates be constructed that detect when an agent-proposed write preserves data integrity while invalidating a causal identification assumption?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169664"/>
            <a:ext cx="100584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98781"/>
                </a:solidFill>
                <a:latin typeface="Calibri"/>
              </a:rPr>
              <a:t>Evaluated on a seeded adversarial set of 50 perturbations; target ≥ 90% detection of mutations that move θ beyond threshold.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36592"/>
            <a:ext cx="11057839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96" y="4864608"/>
            <a:ext cx="7315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Calibri"/>
              </a:rPr>
              <a:t>RQ4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846320"/>
            <a:ext cx="1005840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0B0B"/>
                </a:solidFill>
                <a:latin typeface="Calibri"/>
              </a:rPr>
              <a:t>What share of the operator's revealed siting behaviour is explainable from public data alone?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5358384"/>
            <a:ext cx="100584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98781"/>
                </a:solidFill>
                <a:latin typeface="Calibri"/>
              </a:rPr>
              <a:t>Descriptive. A low value is a finding about opacity, not a failed project.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Setup and 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Panel of ZCTA i in quarter t; treatment is first enablement of same-day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243230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22494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i = 1..N   ZCTA          N = 2,413 modelled  /  33,791 national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t = 1..T   quarter       T = 44   (2015Q1 - 2025Q4)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D_it in {0,1}            same-day service available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E_i = min{ t : D_it = 1 }    first enablement (right-censored)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X_it                     public covariates, vintage-aligned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Y_it                     2-day order proxy (secondary)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W(rho)                   spatial weights, radius rho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theta                    cannibalization coefficient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14800"/>
            <a:ext cx="5486400" cy="1572768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4233672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PRIMARY ESTIMAND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617720"/>
            <a:ext cx="5120640" cy="9509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>h_it = P( E_i = t | E_i &gt;= t , X_it )</a:t>
            </a:r>
          </a:p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>The conditional hazard of first enablement. Observable, right-censored, and scoreable out of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4114800"/>
            <a:ext cx="54864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4233672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SECONDARY ESTIMAND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617720"/>
            <a:ext cx="5120640" cy="9509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>theta = E[ Y_it(0) - Y_it(1) | D_it = 1 ] / E[ Y_it(0) | D_it = 1 ]</a:t>
            </a:r>
          </a:p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>Cannibalization as a proportional treatment effect on the incumbent channel.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Why the estimand is enablement, not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An identification argument, not a data-availability excuse.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THE CONSTRUCTED-TARGET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5120640" cy="1618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Volume is unobserved, so it must be allocated:</a:t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   Y~_i = Q · g(X_i) / Σ_j g(X_j)</a:t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Fitting f(X_i) → Y~_i recovers g, not the data-generating</a:t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process. R² is bounded below by the approximation error of</a:t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f to g and is uninformative about the phenomenon.</a:t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A GOOD fit is evidence of the defect.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481328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052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WHAT ENABLEMENT BUYS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84248"/>
            <a:ext cx="5120640" cy="1618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D_it is directly observable from the operator's own service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check and from facility records.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  · admits a genuine out-of-time backtest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  · supports proper scoring rules (Brier, log loss)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  · makes 'operator-consistent desirability' literal rather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    than a hedge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  · censoring is handled, not mislabelled as a negative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41648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151376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The volume model is retained as specification recovery under a stated allocation assumption, and every dollar figure derived from it is labelled conditional.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Siting model — discrete-time hazard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Complementary log-log link; grouped-duration data with time-varying covariates.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883663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700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cloglog( h_it )  =  log( -log( 1 - h_it ) 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                 =  alpha(t)  +  X_it' beta  +  u_m(i)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alpha(t)   flexible baseline in time since nearest node opened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u_m(i)     metro random effect,  u ~ N(0, sigma^2)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S_i(t)     = PROD_{s&lt;=t} ( 1 - h_is )     survival to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547871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666743"/>
            <a:ext cx="3200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WHY CLOGLOG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50791"/>
            <a:ext cx="3200400" cy="12070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It is the grouped-duration analogue of a proportional-hazards model, so coefficients carry a hazard-ratio reading and the specification is invariant to the interval width we happened to choose.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547871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0288" y="3666743"/>
            <a:ext cx="3200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WHY NOT A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050791"/>
            <a:ext cx="3200400" cy="12070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A logit on 'ever enabled' mislabels censored units as negatives, discards timing, and cannot use time-varying covariates at their contemporaneous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3547871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30768" y="3666743"/>
            <a:ext cx="3200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COVARIATE VINTAGE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4050791"/>
            <a:ext cx="3200400" cy="12070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X_it uses the vintage AVAILABLE at t, not the latest release. Levels from slow sources, rates of change from monthly ones. Anything else leaks future 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Selection — Heckman two-step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Treatment assignment is endogenous by construction: the operator selects on expected profitability.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33502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15214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STEP 1   S_i* = Z_i' gamma + X_i' delta + e_i ,   S_i = 1{ S_i* &gt; 0 }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         lambda_i = phi(Z_i'gamma) / Phi(Z_i'gamma)   (inverse Mills ratio)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STEP 2   outcome equation augmented with lambda_i ; rho·sigma identified from its coefficient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99232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11810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THE INSTRUMENT, AND ITS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02152"/>
            <a:ext cx="5120640" cy="1527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Z = distance to nearest commercially zoned centroid.</a:t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RELEVANCE — testable. Report first-stage F; convention F &gt; 10.</a:t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EXCLUSION — not testable. Commercial zoning correlates with employment density and traffic, either of which could enter demand directly. We do not assert the restriction 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2999232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311810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WHAT WE REPORT INSTEAD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502152"/>
            <a:ext cx="5120640" cy="1527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· first-stage F and partial R²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· corrected AND naive coefficients side by side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· a sensitivity analysis over an assumed direct effect gamma_direct ∈ [0, δ̄], showing the path of the corrected estimate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· the value of gamma_direct at which the sign flips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Survival under a plausible violation is worth more than a claim of no violation.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Identification assumptions, and how each is handled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Testable, partially testable, and untestable — labelled as such.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3525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920240"/>
                <a:gridCol w="576072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Conditional independence of enablement given X and λ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Untestable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Heckman correction on the pilot metro; explicit disclosure elsewhere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Exclusion restriction on Z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Untestable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Sensitivity path over an assumed direct effect; report the sign-flip point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Parallel trends (pre-treatment)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Partially testable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Pre-period fit reported and plotted; placebo distribution built from untreated units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No interference (SUTVA)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Known violated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Not assumed. Spillover reach estimated by distance band; contaminated donors excluded by the measured radius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Correct functional form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Partially testable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Non-parametric LightGBM benchmark; convergent-validity Spearman with bootstrap CI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Covariates measured without error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Known violated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ACS margins of error propagated; LLM-extracted fields corrected as generated regressors (Egami et al. 2023)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Target measured without error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Known violated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 43-row census with per-row sources, a measured accuracy bound, and a label-noise simulation bounding the effect on AUC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Cannibalization — spatial synthetic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Convex-combination counterfactual with a donor pool restricted by measured spillover reach.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60934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4264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w*  =  argmin_w  || X_1 - X_0 w ||_V   s.t.  w_j &gt;= 0 ,  SUM_j w_j = 1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tau_1t  =  Y_1t  -  SUM_{j in J} w*_j Y_jt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J  =  { j : D_jt = 0  for all t &lt;= T }  \  { j : dist(j, treated) &lt; rho^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73552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39242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DONOR POOL, AND WHY ρ̂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76472"/>
            <a:ext cx="5120640" cy="14813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>A contiguity rule excludes every neighbour of a treated unit. In a saturating network that empties the pool.</a:t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>Because contamination is defined by the ESTIMATED radius ρ̂ rather than by shared borders, donors a conservative rule discards are recovered. Staggered adoption adds later-treated units as controls for earlier 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273552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339242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DIAGNOSTICS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776472"/>
            <a:ext cx="5120640" cy="14813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· pre-treatment RMSPE, target &lt; 8% of outcome mean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· donor-pool size and weight concentration (max w*_j)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· the fitted covariate balance table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Where no credible pool exists the estimate is reported as NOT ESTIMABLE rather than produced.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Inference — permutation, not asymptotics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With one treated unit, a distributional standard error is not credible. The null is built from the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06070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0B0B0B"/>
                </a:solidFill>
                <a:latin typeface="Consolas"/>
              </a:rPr>
              <a:t>RMSPE ratio     R_i  =  RMSPE_post(i) / RMSPE_pre(i)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0B0B0B"/>
                </a:solidFill>
                <a:latin typeface="Consolas"/>
              </a:rPr>
              <a:t>permutation p   p^  =  ( 1 + #{ j in J : R_j &gt;= R_1 } ) / ( 1 + |J|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61488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IN-SPACE PLACEBO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64408"/>
            <a:ext cx="3163824" cy="1344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Assign the treatment date to each untreated unit in turn and re-run the full estimator. The resulting effects form a null distribution under no treatment, with no distributional assumption.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761488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98848" y="288036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WHY THE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264408"/>
            <a:ext cx="3163824" cy="1344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Units that fit the pre-period badly produce large post-period gaps for uninteresting reasons. Dividing by pre-period error prevents poor fit from masquerading as a large effect.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761488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47888" y="288036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IN-TIME PLACEBO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264408"/>
            <a:ext cx="3163824" cy="1344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Re-date the treatment two years earlier. A detected effect there indicates something other than the treatment is driving the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532120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FBEAEA"/>
          </a:solidFill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5641848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Calibri"/>
              </a:rPr>
              <a:t>Pre-treatment fit is necessary and not sufficient. Reporting it alone was the single clearest methodological gap in the earlier design.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Interference — estimating the spillover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2" b="0" i="1">
                <a:solidFill>
                  <a:srgbClr val="52514E"/>
                </a:solidFill>
                <a:latin typeface="Calibri"/>
              </a:rPr>
              <a:t>Distance-band estimation (Pollmann, arXiv:2011.00373). The estimator is his; the parameter for same-day delivery is the contribution.</a:t>
            </a:r>
          </a:p>
        </p:txBody>
      </p:sp>
      <p:pic>
        <p:nvPicPr>
          <p:cNvPr id="5" name="Picture 4" descr="fig05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36192"/>
            <a:ext cx="10908792" cy="4227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44768"/>
            <a:ext cx="11064240" cy="6035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ρ̂ is then used twice: to construct W, and to define donor contamination in the synthetic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Constructing W from the estimated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W becomes an estimated object with a standard error rather than a modelling convenience.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60934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4264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band estimates    tau^(d_k)  for bands  d_1 &lt; d_2 &lt; ... &lt; d_K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reach             rho^ = min{ d_k : H_0( tau(d_k) = 0 ) not rejected }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weights           w_ij  =  f( dist_ij ; rho^ )  ,  normalised row-wise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                  f decreasing, f(d) = 0 for d &gt; rho^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73552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39242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WHAT THIS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76472"/>
            <a:ext cx="5120640" cy="1344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The standard objection to a contiguity matrix is 'why contiguity?' — why not 5 km, why not drive time. There is no principled answer.</a:t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Deriving W from the measured reach replaces an assumption with an estimate, and propagates its uncertainty into the spatial term.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273552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339242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WHAT IT DOES NOT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776472"/>
            <a:ext cx="5120640" cy="1344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Estimating W is not new. Souza (2019), Krisztin and Piribauer, and Political Analysis (2024) all estimate or select it from the outcome panel.</a:t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Our difference is the channel: W is revised BETWEEN estimation cycles from an exogenous text stream, not fitted in-sample once.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38" b="1" i="0">
                <a:solidFill>
                  <a:srgbClr val="0B0B0B"/>
                </a:solidFill>
                <a:latin typeface="Calibri"/>
              </a:rPr>
              <a:t>RQ2 — a pre-registered test with two publishable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LeSage and Pace (2014) argue spatial estimates are less sensitive to W than practitioners assume. This is a direct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33502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15214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0B0B0B"/>
                </a:solidFill>
                <a:latin typeface="Consolas"/>
              </a:rPr>
              <a:t>H_0 :   | theta( W_t+1 ) - theta( W_t ) |  &lt;=  kappa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0B0B0B"/>
                </a:solidFill>
                <a:latin typeface="Consolas"/>
              </a:rPr>
              <a:t>kappa   pre-registered materiality threshold, fixed before estimation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0B0B0B"/>
                </a:solidFill>
                <a:latin typeface="Consolas"/>
              </a:rPr>
              <a:t>W_t+1   W revised by a gated agent write at time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54096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172968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IF H_0 IS REJECTED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57016"/>
            <a:ext cx="5120640" cy="12070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>Event-driven revision of W materially moves the causal estimate. That challenges a well-known robustness claim, using an update channel the literature has not applied.</a:t>
            </a:r>
          </a:p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>→ workshop paper in spatial econometrics.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054096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3172968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IF H_0 IS NOT REJECTED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557016"/>
            <a:ext cx="5120640" cy="12070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>The robustness claim survives a novel perturbation — itself a contribution — and we report an honest engineering finding: the mutable-W machinery is elegant and not decision-relevant.</a:t>
            </a:r>
          </a:p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75" b="0" i="0">
                <a:solidFill>
                  <a:srgbClr val="52514E"/>
                </a:solidFill>
                <a:latin typeface="Calibri"/>
              </a:rPr>
              <a:t>→ negative result, reported.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32120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FDF0EA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5641848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κ is fixed in advance precisely so the negative result reads as a finding rather than a rationalisation.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Generated regressors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Machine-extracted covariates enter downstream estimators as if measured exactly. They are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60934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4264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0B0B0B"/>
                </a:solidFill>
                <a:latin typeface="Consolas"/>
              </a:rPr>
              <a:t>observed        X^_i  =  X_i + eta_i ,   E[eta] != 0 possible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0B0B0B"/>
                </a:solidFill>
                <a:latin typeface="Consolas"/>
              </a:rPr>
              <a:t>naive           Var( beta^ )  understated;  inference anti-conservative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0B0B0B"/>
                </a:solidFill>
                <a:latin typeface="Consolas"/>
              </a:rPr>
              <a:t>correction      design-based supervised learning on a hand-labelled subsample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0B0B0B"/>
                </a:solidFill>
                <a:latin typeface="Consolas"/>
              </a:rPr>
              <a:t>                (Egami, Hinck, Stewart &amp; Wei, NeurIPS 2023) ; PPI (Angelopoulos et al. 2023)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310128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4290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WHY IT MATTERS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813048"/>
            <a:ext cx="5120640" cy="125272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Facility attributes parsed from text feed both W and the gravity term. Treating an estimate as an observation makes the model look more certain than the evidence supports — precisely the failure this project exists to avoid elsewhere.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310128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34290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WHY IT IS CHEAP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813048"/>
            <a:ext cx="5120640" cy="125272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43-row census built for target-quality assessment is exactly the labelled set these estimators require. One artefact, two uses; roughly one day of work.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Not novel. Correct — and rarely done in the agent literature.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Uncertainty — split conformal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Distribution-free, finite-sample coverage under exchangeability. A verified guarantee rather than an assumed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60934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4264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fit on D_train ;  scores  s_i = | y_i - f^(x_i) |  on D_cal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q^ = Quantile( s ; ceil((n+1)(1-alpha)) / n 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C(x) = [ f^(x) - q^ ,  f^(x) + q^ ]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guarantee   P( y in C(x) )  &gt;=  1 - alpha    for any underlying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310128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42900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WHAT IT REPLACES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813048"/>
            <a:ext cx="3163824" cy="125272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Model-derived intervals inherit every specification assumption. If the model is misspecified the interval is wrong and nothing signals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310128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98848" y="342900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WHAT WE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813048"/>
            <a:ext cx="3163824" cy="125272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Nominal 90% against MEASURED coverage on held-out ZCTAs. Target: within 2 percentage points. The claim is checkable and can fail.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3310128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47888" y="342900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CAVEAT WE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813048"/>
            <a:ext cx="3163824" cy="125272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Exchangeability is violated under temporal drift. We report coverage separately by year, and use the out-of-time split so drift is visible rather than hidden.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Targets fixed before estimation. They were missed, and the next slide reports the miss rather than retraining it away.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3915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03120"/>
                <a:gridCol w="576072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AUC-ROC, out-of-time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≥ 0.80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Rank quality on a forecast that was scored. Above ~0.95 would suggest leakage on public covariates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PR-AUC (base rate ≈ 0.06)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≫ base rate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Positive class is rare; ROC is flattered by abundant true negatives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Brier score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≤ 0.06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Proper scoring rule; calibration and sharpness jointly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Expected calibration error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&lt; 0.05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Councils act on the stated probability, so it must mean what it says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precision@100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≥ 0.60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Matches the decision: a shortlist, not a full ranking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Conformal coverage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within 2pp of nominal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Empirically verified, not assumed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Spearman vs LightGBM, top decile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≥ 0.80, bootstrap CI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Convergent validity across parametric and non-parametric forms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AUC under 15% label noise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≥ 0.78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Bounds the effect of target measurement error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Top-100 overlap, H3 vs ZCTA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≥ 0.70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Ranking is not an artefact of the spatial partition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Measured, against every target on the previous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0" i="1">
                <a:solidFill>
                  <a:srgbClr val="52514E"/>
                </a:solidFill>
                <a:latin typeface="Calibri"/>
              </a:rPr>
              <a:t>Primary hold-out splits whole units; the secondary split is temporal. AUC 0.6894 and 0.5551 against 0.5000. Brier 0.019522 against 0.019614 for a constant.</a:t>
            </a:r>
          </a:p>
        </p:txBody>
      </p:sp>
      <p:pic>
        <p:nvPicPr>
          <p:cNvPr id="5" name="Picture 4" descr="fig08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22" y="1536192"/>
            <a:ext cx="9197851" cy="4507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44768"/>
            <a:ext cx="11064240" cy="6035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1">
                <a:solidFill>
                  <a:srgbClr val="898781"/>
                </a:solidFill>
                <a:latin typeface="Calibri"/>
              </a:rPr>
              <a:t>The raw Brier pair, not a skill score: Gneiting and Raftery (2007) section 2.3 p.362, skill scores are generally improper even when the underlying rule is proper. The geographic hold-out is not on this slide because Phoenix and Boise hold two dated stations between them, which is a smoke test, not a transfer test.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Robustness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Each check targets a specific way the headline result could be an artefact.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3374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06240"/>
                <a:gridCol w="438912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Failure would mean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Target measurement error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Corrupt a known fraction of open dates by ±1 quarter; re-run the backtest across the grid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Reported AUC is not interpretable without a stated error rate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Spatial partition artefact (MAUP)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Re-run at H3 hexagonal grain; compare top-100 overlap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The ranking reflects ZIP boundaries, not geography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Functional form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LightGBM benchmark; Spearman on top decile with bootstrap CI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The result is an artefact of the cloglog specification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Corrected vs naive coefficients; sensitivity path over an assumed direct instrument effect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The estimate confounds viability with revealed preference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Spillover mis-specification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Vary ρ̂ across its confidence band; re-estimate θ at each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θ is an artefact of the assumed neighbourhood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Covariate noise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Propagate ACS margins of error through the Monte Carlo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Rankings are spuriously precise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Margin heterogeneity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Re-rank under a margin varying with income; measure top-100 churn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Scale-invariance of the ranking does not hold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Cost model — continuous approximation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Beardwood–Halton–Hammersley (1959); Daganzo (1984). The distance term is precomputed, not served.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33502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15214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BHH        tour length  ~  k * sqrt( N * A 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per stop   ~ k * sqrt( A / N )  =  k / sqrt( delta )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c_i  =  c_fixed  +  b_stem * d_stem(i)  +  b_local * A_i / sqrt( delta_i * N_i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1752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136392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THE ENGINEERING CONSEQUENCE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120640" cy="12984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>d_stem is a finite precomputable set — ~800,000 within-metro OD pairs, 10 MB as parquet.</a:t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>Routing is therefore an offline, one-time job. Process one metro, extract the matrix, delete every artifact. Peak disk 8 GB rather than 60; the deployed system carries no routing dependency.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01752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3136392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AND THE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520440"/>
            <a:ext cx="5120640" cy="12984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>Daganzo is already a continuous approximation, so exact routing is precision in the wrong place.</a:t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>Circuity: road ≈ great-circle × k, k ≈ 1.35, calibrated on one metro against routed truth with the residual reported. A large residual is a finding; a small one saves two weeks.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NPV under an unobservable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Contribution margin is not identified from public data. We factor it out rather than invent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33502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15214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NPV_i  =  SUM_{t=1..5}  [ (1 - theta_i) N_it m  -  c_it N_it ] / (1+r)^t   -   K_i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reported as        NPV_i  =  a_i * m  -  b_i</a:t>
            </a:r>
          </a:p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0B0B0B"/>
                </a:solidFill>
                <a:latin typeface="Consolas"/>
              </a:rPr>
              <a:t>break-even         m*_i   =  b_i / a_i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1752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136392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WHAT SURVIVES WITHOUT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120640" cy="13898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Ranking is invariant to a common positive scale factor, so the ranked list, bundle selection, rank stability, break-even thresholds, timing and the selection propensity are all unaffected.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Six of eight outputs need no margin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01752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3136392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WHAT DOES NOT, AND THE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520440"/>
            <a:ext cx="5120640" cy="13898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If m varies systematically across areas, scale-invariance fails and the RANKING moves, not just the level.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We re-rank under m varying with median income as a plausible worst case and report top-100 churn. K_i is validated externally against disclosed capital expenditure, target within 25%.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Decision layer — set selection, not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The objective is neither submodular nor supermodular, so no greedy guarantee applies.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883663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700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maximise   V(S)  =  SUM_{i in S} v_i  -  SUM_{i,j in S} theta_ij  +  g( delta(S) )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                                  cannibalisation      shared-density gain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theta_ij  induces DIMINISHING returns  -&gt;  submodular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g(delta)  induces INCREASING  returns  -&gt;  supermodular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V is neither  -&gt;  the (1 - 1/e) greedy bound does not apply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547871"/>
            <a:ext cx="35295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666743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SEARCH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50791"/>
            <a:ext cx="3163824" cy="12070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ranking   → 2,413 independent decisions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bundling  → 2^2,413 candidate sets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top 200   → ≈ 1.6 × 10^60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547871"/>
            <a:ext cx="35295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98848" y="3666743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WHAT WE ACTUALLY 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4050791"/>
            <a:ext cx="3163824" cy="12070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Greedy construction plus pairwise-swap local search over the top candidate set. We report the optimality gap against pure greedy ranking, not a claim of optimality.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3547871"/>
            <a:ext cx="3529584" cy="182880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47888" y="3666743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NOT A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4050791"/>
            <a:ext cx="3163824" cy="12070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6" b="0" i="0">
                <a:solidFill>
                  <a:srgbClr val="52514E"/>
                </a:solidFill>
                <a:latin typeface="Calibri"/>
              </a:rPr>
              <a:t>Multi-facility location optimisation is textbook OR (p-median, maximal covering) and a mature commercial category. We include it because ranking is the wrong model of the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Inferential integrity — a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The failure class the gated-write literature does not cover.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2157984"/>
          </a:xfrm>
          <a:prstGeom prst="roundRect">
            <a:avLst>
              <a:gd name="adj" fmla="val 5000"/>
            </a:avLst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19751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Let  M  be a proposed mutation to warehouse state  s.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DATA INTEGRITY          G_data(M) = 1   iff  schema, geocoding, confidence, audit all hold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INFERENTIAL INTEGRITY   G_inf(M)  = 1   iff  the identification assumptions of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                                          the estimator on s + M still hold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0B0B0B"/>
                </a:solidFill>
                <a:latin typeface="Consolas"/>
              </a:rPr>
              <a:t>CLAIM   there exist M with  G_data(M) = 1  and  G_inf(M) = 0 ,  and no published gate detects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822192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94106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GATE 5 — DONOR-POOL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325112"/>
            <a:ext cx="5120640" cy="12984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Reject or escalate if M moves any j ∈ J into treatment or within ρ̂ of a treated unit.</a:t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Formally: J(s + M) ≠ J(s) ⇒ recompute and flag. Never silently re-weight — a silent re-weight keeps producing a plausible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822192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0528" y="394106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GATE 6 — ESTIMATE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325112"/>
            <a:ext cx="5120640" cy="12984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>Re-estimate θ on s and on s + M. Escalate to human review if</a:t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>        | θ(s + M) − θ(s) |  &gt;  κ</a:t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52514E"/>
                </a:solidFill>
                <a:latin typeface="Calibri"/>
              </a:rPr>
              <a:t>κ is pre-registered. Fixing it after seeing results would make the gate a rationalisation rather than a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six-gate mutation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Gates 1–4 protect data integrity and have prior art. Gates 5–6 protect identification and are the contribution.</a:t>
            </a:r>
          </a:p>
        </p:txBody>
      </p:sp>
      <p:pic>
        <p:nvPicPr>
          <p:cNvPr id="5" name="Picture 4" descr="fig03_agent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670" y="1536192"/>
            <a:ext cx="6980355" cy="4507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44768"/>
            <a:ext cx="11064240" cy="6035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Evaluated on a seeded adversarial set of 50 perturbations; target ≥ 90% detection of mutations that move θ beyond κ.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Agent evaluation, calibrated against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A self-authored benchmark is unfalsifiable unless it is positioned against a public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3529584" cy="1664208"/>
          </a:xfrm>
          <a:prstGeom prst="roundRect">
            <a:avLst>
              <a:gd name="adj" fmla="val 8000"/>
            </a:avLst>
          </a:prstGeom>
          <a:solidFill>
            <a:srgbClr val="F9F9F7"/>
          </a:solidFill>
          <a:ln w="1651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3529584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78D6"/>
                </a:solidFill>
                <a:latin typeface="Calibri"/>
              </a:rPr>
              <a:t>~80%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9424"/>
            <a:ext cx="3529584" cy="8412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best public systems, BIRD execution accuracy</a:t>
            </a:r>
          </a:p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(Li et al., NeurIPS 2023)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81328"/>
            <a:ext cx="3529584" cy="1664208"/>
          </a:xfrm>
          <a:prstGeom prst="roundRect">
            <a:avLst>
              <a:gd name="adj" fmla="val 8000"/>
            </a:avLst>
          </a:prstGeom>
          <a:solidFill>
            <a:srgbClr val="F9F9F7"/>
          </a:solidFill>
          <a:ln w="1651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15968" y="1627632"/>
            <a:ext cx="3529584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78D6"/>
                </a:solidFill>
                <a:latin typeface="Calibri"/>
              </a:rPr>
              <a:t>~93%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249424"/>
            <a:ext cx="3529584" cy="8412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human baseline on the same 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81328"/>
            <a:ext cx="3529584" cy="1664208"/>
          </a:xfrm>
          <a:prstGeom prst="roundRect">
            <a:avLst>
              <a:gd name="adj" fmla="val 8000"/>
            </a:avLst>
          </a:prstGeom>
          <a:solidFill>
            <a:srgbClr val="EAF7EA"/>
          </a:solidFill>
          <a:ln w="1651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65008" y="1627632"/>
            <a:ext cx="3529584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CA30C"/>
                </a:solidFill>
                <a:latin typeface="Calibri"/>
              </a:rPr>
              <a:t>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49424"/>
            <a:ext cx="3529584" cy="8412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our target, at n ≥ 100, reported per 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01568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SAMPLE SIZE IS NOT A DETAIL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04488"/>
            <a:ext cx="5120640" cy="12984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At n = 40 an observed 0.85 carries a 95% Wilson interval of roughly [0.71, 0.93]. A 'pass' at 0.85 and a 'fail' at 0.72 are not distinguishable.</a:t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96" b="0" i="0">
                <a:solidFill>
                  <a:srgbClr val="52514E"/>
                </a:solidFill>
                <a:latin typeface="Calibri"/>
              </a:rPr>
              <a:t>n ≥ 100, intervals reported, stratified into four difficulty tiers — spatial joins are where these systems fail and our warehouse is spatial.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401568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10528" y="352044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9" b="1" i="0">
                <a:solidFill>
                  <a:srgbClr val="EB6834"/>
                </a:solidFill>
                <a:latin typeface="Calibri"/>
              </a:rPr>
              <a:t>AND FOR THE MODEL COMPARISON WE DEFERRED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904488"/>
            <a:ext cx="5120640" cy="12984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At n = 200 with a hit rate near 0.8, SE ≈ 2.8pp, so differences below ~8pp are not detectable.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Stating the minimum detectable effect in advance is what stops an 82 / 84 / 85 result being reported as a ranking.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Threats to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Internal, external, construct and statistical — with the response to each.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3479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794760"/>
                <a:gridCol w="6035040"/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Endogenous treatment assignment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Heckman on the pilot metro; explicit disclosure elsewhere; sensitivity over the exclusion restriction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Interference contaminating controls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Donor exclusion by estimated ρ̂ rather than contiguity; staggered adoption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Construct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Enablement ≠ viability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Framed throughout as operator-consistent desirability; equity audit by demographic stratum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Construct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Proxies for land cost and retail attraction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External capex validation of the composite; per-proxy sensitivity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Statistical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One treated unit per SCM estimate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Permutation inference rather than asymptotic standard errors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Statistical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Generated regressors understate variance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Design-based supervised learning on the labelled subsample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External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Ten metros, one operator, one country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Cross-operator transfer test; national propensity fit; explicit scope statement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External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Regime change in the network architecture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Out-of-time design surfaces drift; coverage reported by year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we cannot 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Stated plainly, because it is the reason to believe everything else.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170432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10692079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Calibri"/>
              </a:rPr>
              <a:t>Order volume, revenue and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10692079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Not observable in public data and not recoverable by any transformation. No accuracy claim is made on dollar figures; results are reported as a multiple of margin with break-even thresholds, and the capital side is validated externally.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200"/>
            <a:ext cx="11057839" cy="1170432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862072"/>
            <a:ext cx="10692079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Calibri"/>
              </a:rPr>
              <a:t>The true cannibalization coefficient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10692079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Estimated with placebo inference and confidence bands, but no public number exists to check it against. We claim identification under assumptions, not correctness — and it feeds NPV directly.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05072"/>
            <a:ext cx="11057839" cy="1170432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123944"/>
            <a:ext cx="10692079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Calibri"/>
              </a:rPr>
              <a:t>Internal constraints on the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507992"/>
            <a:ext cx="10692079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Lease obligations, capital rationing, portfolio strategy and outright mistakes are unobservable. Hence operator-consistent desirability rather than viability.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266944"/>
            <a:ext cx="11057839" cy="1170432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5385816"/>
            <a:ext cx="10692079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Calibri"/>
              </a:rPr>
              <a:t>Whether the public-data ceiling is high enough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769864"/>
            <a:ext cx="10692079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This is RQ4, not an aside. If public data explains too little for the decision, that is the finding and we publish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Named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Out of scope for this build, and named as directions rather than commitments.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26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114800"/>
                <a:gridCol w="365760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What it would add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Why not now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Causal forests (Wager &amp; Athey 2018); DoubleML (Chernozhukov et al. 2018)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Heterogeneous treatment effects at ZCTA grain; extends the selection correction beyond one metro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Engineering cost of ten formal corrections exceeds the window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Graph neural network over the ZCTA adjacency graph (Kipf &amp; Welling 2017)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Cross-metro transfer without a parametric form; a natural comparison against the hazard model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Adds a benchmark, not an identification argument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Bayesian synthetic control with spillovers (arXiv:2408.00291)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Full posterior over θ and over the donor weights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Permutation inference already gives assumption-light inference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595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Volume II — data-centre siting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Same machinery, hotter subject: opaque siting, large capital, abatements, an active civic ecosystem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 data swap below the feature layer; post-capstone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Public forecast registry with periodic scoring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Timestamped predictions scored later by anyone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Cheap; scheduled for the release phase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The claim is that a stranger can rebuild every number. That has to be literally true.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DETERMINISM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3163824" cy="1344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Every stochastic step reads its seed from reproducibility/seeds.toml. Nothing hardcodes one, so changing a seed is a reviewable 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81328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98848" y="160020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84248"/>
            <a:ext cx="3163824" cy="1344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14E"/>
                </a:solidFill>
                <a:latin typeface="Calibri"/>
              </a:rPr>
              <a:t>Content-addressed acquisition cache plus a manifest recording source, URL, SHA-256, timestamp and size for every fetch. A reviewer can re-download and verify hashes.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81328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47888" y="160020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SCENARIO REPLAY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984248"/>
            <a:ext cx="3163824" cy="1344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8" b="0" i="0">
                <a:solidFill>
                  <a:srgbClr val="52514E"/>
                </a:solidFill>
                <a:latin typeface="Calibri"/>
              </a:rPr>
              <a:t>dim_scenario records which W version, which agent mutation and which seed produced each published figure. A system whose parameters change in response to text is otherwise not auditable.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30168"/>
            <a:ext cx="11057839" cy="155448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749040"/>
            <a:ext cx="10692079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ARTIFACTS RELEASED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10692079" cy="9326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· the ZCTA-quarter facility-opening panel, with a data card and the measured date-error rate</a:t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· the estimation harness and the evaluation protocol</a:t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· the deployed application, operator view and public planning view</a:t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· a timestamped forecast registry so predictions can be scored by third parties</a:t>
            </a:r>
          </a:p>
          <a:p>
            <a:pPr algn="l">
              <a:lnSpc>
                <a:spcPct val="118000"/>
              </a:lnSpc>
            </a:pPr>
            <a:r>
              <a:rPr sz="936" b="0" i="0">
                <a:solidFill>
                  <a:srgbClr val="52514E"/>
                </a:solidFill>
                <a:latin typeface="Calibri"/>
              </a:rPr>
              <a:t>· model card stating intended use, out-of-scope use and known biases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28930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WHAT WE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73352"/>
            <a:ext cx="5120640" cy="2029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4" b="0" i="0">
                <a:solidFill>
                  <a:srgbClr val="52514E"/>
                </a:solidFill>
                <a:latin typeface="Calibri"/>
              </a:rPr>
              <a:t>C1  Inferential integrity as a distinct failure mode for state-mutating agents, with two gates that detect it</a:t>
            </a:r>
          </a:p>
          <a:p>
            <a:pPr algn="l">
              <a:lnSpc>
                <a:spcPct val="118000"/>
              </a:lnSpc>
            </a:pPr>
            <a:r>
              <a:rPr sz="1104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4" b="0" i="0">
                <a:solidFill>
                  <a:srgbClr val="52514E"/>
                </a:solidFill>
                <a:latin typeface="Calibri"/>
              </a:rPr>
              <a:t>C2  A distance-decay parameter for same-day cannibalization, used to construct W endogenously</a:t>
            </a:r>
          </a:p>
          <a:p>
            <a:pPr algn="l">
              <a:lnSpc>
                <a:spcPct val="118000"/>
              </a:lnSpc>
            </a:pPr>
            <a:r>
              <a:rPr sz="1104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4" b="0" i="0">
                <a:solidFill>
                  <a:srgbClr val="52514E"/>
                </a:solidFill>
                <a:latin typeface="Calibri"/>
              </a:rPr>
              <a:t>C3  The public-data explainability ceiling, and cross-operator transfer</a:t>
            </a:r>
          </a:p>
          <a:p>
            <a:pPr algn="l">
              <a:lnSpc>
                <a:spcPct val="118000"/>
              </a:lnSpc>
            </a:pPr>
            <a:r>
              <a:rPr sz="1104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4" b="0" i="0">
                <a:solidFill>
                  <a:srgbClr val="52514E"/>
                </a:solidFill>
                <a:latin typeface="Calibri"/>
              </a:rPr>
              <a:t>C4  An open, re-runnable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7648" y="1170432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0528" y="128930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WHAT WE DO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673352"/>
            <a:ext cx="5120640" cy="2029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· novelty in gating agent writes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· novelty in relaxing fixed-W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· any latency comparison against a governance process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· novelty in multi-facility optimisation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· any accuracy claim on dollar NPV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· that the exclusion restriction holds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· that θ is correct rather than identified under assumptions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34840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544568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Calibri"/>
              </a:rPr>
              <a:t>Every technique here has a paywalled commercial equivalent. What does not exist is a version anyone can check.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86400"/>
            <a:ext cx="1106424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Calibri"/>
              </a:rPr>
              <a:t>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·  technical supplement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